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"Two of the six things I'm showing you today have a deadline attached, and one of them lands 13 days from now. So this isn't a 'nice to know' session - there's homework."
SET EXPECTATIONS:
- Roughly 45 minutes of material, rest is yours for questions.
- Interrupt me. This is an office hour, not a webinar.
- Everything I show is running in a repo you can clone - link at the end.
ASK THE ROOM (do this first, it shapes the whole session):
"Quick show of hands - who here is on GitHub Enterprise Server rather than github.com?"
-&gt; If MOSTLY GHES: say so now. Items 03 and 05 are not on GHES yet, and 06 needs Team or Enterprise. Frame those three as 'what's coming' and spend the recovered time on retention, arm64 and CodeQL.
-&gt; If MOSTLY GHEC/cloud: all six apply, keep the pacing as planned.
TRANSITION: "Here's what we're 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OPEN: "Six updates, June through August. I've colour-coded them: amber is time-sensitive, purple is code scanning and quality, green and blue are opt-in improvements."
DON'T READ ALL SIX ALOUD. Point at the grid and call out the shape of it:
- Top row (01, 02): these have dates. We'll spend the most time here.
- Middle (03, 04): security and quality tooling - one breaking change hiding in 04.
- Bottom (05, 06): things you can turn on when you're ready. Pure upside.
ASK THE ROOM: "Before I start - is anyone already running arm64 Windows jobs, or planning to?"
-&gt; If yes, flag that item 02 is the one that will bite them, and ask them to speak up when we get there.
-&gt; If nobody raises a hand, still cover 02 but move faster and lean on the retention item instead.
TIMING CHECK: you should be leaving this slide about 3 minutes in.
TRANSITION: "Let's start with the two that have a clock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OPEN: "This is the slide to photograph. Two dates, both inside the next month."
WALK THE TIMELINE LEFT TO RIGHT:
- Today, Sept 8. Nothing has happened yet. Everything is still preventable.
- Sept 21-30: the windows-11-arm label migrates to Visual Studio 2026. Gradual rollout, so failures will look intermittent before they look permanent.
- Oct 1: checks, workflow runs and statuses start obeying your Actions retention setting.
THE TWO NUMBERS: 13 days and 23 days. Land these hard - they're the reason anyone acts.
ASK THE ROOM: "Does anyone here own a compliance or audit process that pulls workflow run history?"
-&gt; If yes: that person needs the Oct 1 date in their calendar today. Offer to stay after.
-&gt; If nobody's sure who owns it, that IS the finding. Suggest they identify the owner this week.
WHY THE GRADUAL ROLLOUT MATTERS: a job that passes Monday and fails Wednesday looks like flake. Teams will retry instead of investigating and lose days. Say this out loud - it's the most useful sentence on the slide.
TRANSITION: "Let's take those one at a time, starting with retention."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including demo]
OPEN: "Today your workflow run history sticks around for 400-plus days whether you asked for it to or not. From October 1 it follows the retention number you already set - and for most people that number is 90 days and they've never looked at it."
THE ONE-LINE VERSION: this isn't GitHub deleting your data, it's GitHub finally applying the setting you already chose.
THE THREE CARDS - the middle one is the one that hurts:
- Not retroactive: raising retention in November will NOT bring back what expired in October. This is the single most important sentence on the slide. Say it twice.
- Caps apply: a repo can't exceed the org or enterprise cap. Public repos top out at 90 days regardless.
- Billing unchanged: artifacts and logs still count toward billable storage; check/run/status metadata is not billed. Pre-empts the 'is this a cost grab?' question.
ASK THE ROOM: "Does anyone know what your Actions retention setting is right now, without looking?"
-&gt; Expect silence. That's the point. "That's the exercise for this week."
DEMO - demos/01-retention (live, workflow_dispatch):
Run it from the Actions tab. It produces an artifact, a commit status and logs in one go, so you can show all three retention-governed object types on screen at once. Point at the artifact expiry date in the UI - that's the setting doing its job today. From Oct 1 the run itself ages out the same way.
IF THE DEMO FAILS: the settings page alone tells the story. Show Settings &gt; Actions &gt; General and read the renamed field aloud: "Check, workflow run, status, artifact and log retention." The rename IS the announcement.
TRANSITION: "That one's a calendar reminder. This next one can break a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including demo]
OPEN: "Good news first: Windows 11 arm64 with Visual Studio 2026 is generally available. You can use it today on standard and larger hosted runners."
THEN THE TURN: "Now the part that matters. In 13 days, GitHub starts moving the windows-11-arm label onto that image - whether you're ready or not."
WALK THE MIGRATION BAR right to left across the three states: green (VS2022, today), amber (Sept 21-30, shifting), red (after Sept 30, everyone's on VS2026).
THE FIX IS ONE LINE. Point at the code block: pin runs-on: windows-11-vs2026-arm now. Then you find your problems on a Tuesday morning of your choosing instead of during a release.
ASK THE ROOM: "If your build broke because the compiler moved a version, how long would it take you to work out why?"
-&gt; Let someone answer. The honest answer is usually 'longer than I'd like', which is exactly the argument for pinning.
DEMO - demos/02-windows-arm64 (live, workflow_dispatch):
Two jobs side by side - one pinned to the VS2026 label, one on the legacy label - so you can show they currently resolve differently and will converge after Sept 30. Dispatch-only on purpose: arm64 runners are billable, don't burn minutes on an auto-trigger.
IF TIME IS SHORT: skip the run and just show the two runs-on lines in the file. The teaching point is the label, not the output.
WATCH OUT: someone will ask 'can we just stay on VS2022?' Answer: not via the windows-11-arm label after Sept 30. Pinning to the VS2026 label is the supported path; staying on 2022 long-term means a self-hosted image.
TRANSITION: "That's both deadlines covered. The rest is upside - starting with a change most people will only notice in their billing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walkthrough only, no live demo]
OPEN: "This is the quietest change on the list and the one most likely to silently break a report."
THE STORY IN ONE SENTENCE: Code Quality used to run under code scanning's check path and actor. Now it has its own. Nothing about the scan changed - only its name badge.
WALK THE BEFORE/NOW TABLE. Read the two path strings aloud slowly; the difference is one word, code-scanning to code-quality, and that's precisely why it slips past people.
THE THREE OUTCOMES:
- Green: nothing to reconfigure. Code Quality keeps working. Lead with this so nobody panics.
- Amber: billing and usage reports filtering the old check path will silently under-report. Not error - just quietly wrong numbers.
- Amber: any script, dashboard or workflow-run filter keyed to the github-advanced-security actor needs repointing.
ASK THE ROOM: "Does anyone maintain a dashboard or a chargeback report that filters on the Actions check path?"
-&gt; If yes: that's their action item, and it's a five-minute fix if they do it before the numbers get questioned.
-&gt; If no: still worth flagging to whoever owns FinOps.
NO LIVE DEMO HERE - this needs GHAS plus billing report access, and a scan run takes too long to watch. demos/06-code-quality-path in the repo has the full walkthrough with the exact strings to search for. Point people at it rather than improvising.
AVAILABILITY - SAY THIS EXPLICITLY: GHEC, Team and data residency. NOT on GHES. If the room raised GHES hands at the start, this is a roadmap item for them, not an action item.
TRANSITION: "Staying with code scanning - CodeQL shipped a release with one genuine breaking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including demo - this is the densest slide, don't rush the left half]
OPEN: "CodeQL 2.26.3 is mostly good news, but let's do the breaking change first so nobody's half-listening."
THE BREAKING CHANGE (left card): codeql.actions.security.SelfHostedQuery is gone. The reasoning is worth repeating because it's genuinely interesting: runner labels can't reliably distinguish a self-hosted runner from a GitHub-managed one. The query rested on an assumption that didn't hold, so it was removed rather than left to give false confidence.
-&gt; WHO THIS AFFECTS: anyone importing it in a custom query pack, suppressing it, or filtering dashboards on it. Those references are now dead.
THE FOUR IMPROVEMENTS (right) - summarise, don't recite:
- Merge groups: untrusted data in merge_group events is now recognised. New coverage, so expect new alerts if you use merge queues.
- Fewer false positives on jq path filters. Everyone's favourite kind of release note.
- Clearer alert paths: cache-poisoning and untrusted-checkout alerts now start at the controlling expression, not three frames downstream. Much faster to triage.
- Tighter injection rules: envvar-injection/critical now requires untrusted source AND privileged context from the same trigger.
THE GREEN BAR: the three cache-poisoning queries now account for June's read-only cache change. Nice payoff story - a platform change from June makes the scanner smarter in August.
ASK THE ROOM: "Has anyone written or forked a custom CodeQL query pack?"
-&gt; If yes: they need to grep for SelfHostedQuery today.
-&gt; If no: reassure them - the default suites just get better with no action required.
DEMO - demos/03-codeql (live, workflow_dispatch):
Four specimen workflows. Two SHOULD alert (untrusted checkout, envvar injection). Two should NOT (the jq one and the self-hosted one) - that absence IS the demo: it proves the false-positive fix and the removed query.
IMPORTANT: build the anticipation before you show results - predict out loud which two will fire, THEN reveal. Much better than narrating a list.
TWO THINGS TO SAY ABOUT SAFETY, unprompted:
1. Every specimen job carries an if: false guard. They can never execute. They exist only to give CodeQL something to read.
2. Their triggers only fire from the default branch, so on a feature branch they're doubly inert.
People WILL notice pull_request_target in a demo repo. Get ahead of it.
TIMING: CodeQL takes a few minutes. Start the run BEFORE this slide - ideally during slide 6 - and come back to finished results. Dead air here kills the room.
TRANSITION: "That's the scanner getting smarter on its own. This next one writes code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this is the crowd-pleaser, give it room]
OPEN: "Show of hands - who has a repo with tests but no coverage reporting, purely because nobody got round to writing the workflow?"
-&gt; Expect a lot of hands. "Right. GitHub will now write it for you."
WALK THE THREE STEPS. The important beat is step 3: it arrives as a PULL REQUEST, not a silent commit. Emphasise this - it's what makes it safe to try. You review it like any other PR, and it ships with least-privilege permissions by default.
THE SCREENSHOT: one toggle in Code Quality settings. That's the whole activation story.
DEMO - demos/04-coverage-automation (do this LIVE if you can, it's the best moment in the deck):
The repo deliberately ships a Node project with passing tests and NO coverage workflow and NO coverage config. That absence is the setup. Flip the toggle live, then let people watch GitHub open the PR.
-&gt; If it's slow to arrive, don't stall. Move to slide 9, then come back. Have a pre-generated PR open in a second tab as insurance.
-&gt; Read the generated workflow aloud when it lands. Point at the permissions block - that's the least-privilege claim proving itself.
ASK THE ROOM while it generates: "What would you actually do with coverage numbers once you had them - gate merges, or just watch the trend?"
-&gt; Good discussion filler, and it surfaces whether they want branch protection next.
SET EXPECTATIONS HONESTLY: this is PUBLIC PREVIEW. Generated output is a starting point, not a finished pipeline. Expect to edit it. Say this - overselling AI features is how you lose a technical room.
AVAILABILITY - SAY IT EXPLICITLY: GHEC and Team on github.com. NOT on GHES.
TRANSITION: "Last one. This is about control rather than convenience."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including demo]
OPEN: "This one is for whoever in the room owns the Actions bill."
THE FOUR CAPABILITIES - the fourth is the headline, so build to it:
- macOS runners can now go into runner groups. Previously they couldn't, which was a real gap for anyone doing iOS or macOS builds.
- Scope a group by organization, repository or workflow.
- Cap concurrency, so one team's pipeline can't starve everyone else's.
- And the big one: disable default labels. You can switch off ubuntu-latest org-wide.
LAND THE SCREENSHOT: "One checkbox takes ubuntu-latest away from every repository in the org." Pause after that. It usually gets a reaction.
-&gt; WHY YOU'D WANT THAT: it forces every job through a runner group where your policy, your concurrency caps and your cost controls actually apply. Without it, any developer can bypass all of it by typing ubuntu-latest.
ASK THE ROOM: "Who could tell me, right now, how many jobs in your org are running on ubuntu-latest with no policy attached?"
-&gt; Nobody will know. That's the argument for runner groups in one question.
DEMO - demos/05-runner-controls (live, workflow_dispatch):
Shows label and group routing behaviour. Dispatch-only to protect runner minutes. Pair it with the org settings screen if you have admin access - seeing the checkbox is more persuasive than seeing the YAML.
WATCH OUT - two caveats to raise before someone else does:
1. Network configurations are not supported for macOS runners at this time.
2. Disabling ubuntu-latest is disruptive if you do it without warning. Recommend: create the group, migrate a pilot team, THEN disable the label. Don't flip it on a Friday.
AVAILABILITY: Team and Enterprise only. If the room is on a lower plan, this is informational.
TRANSITION: "That's all six. Here's what I'd actually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then open the floor]
OPEN: "Six items, but only two need you to do something this month. Let's be honest about the priority order."
DON'T READ ALL SIX. Group them:
- The two amber ones are dated. Retention before Oct 1, arm64 pinning before Sep 21. If you only remember two things, remember these.
- The two purple ones are hygiene: repoint billing filters, grep for SelfHostedQuery. Both are quarter-scale, both are quick.
- The green and blue are opt-in experiments. Try coverage on one repo. Have the runner-group conversation.
MAKE IT CONCRETE - the strongest close is a commitment, not a summary:
"Pick one. Who's going to check their retention setting before Friday?"
-&gt; Get an actual name if you can. Named owners are the difference between a good session and a session that changes nothing.
OFFER THE REPO: everything demoed today is in the actions-updates-sept repo, branch seandorsett-actions-office-hour-demos. Six README walkthroughs, four runnable workflows, and this deck in the presentation folder. Tell them the CodeQL specimens are permanently disabled and explain why in one line, so nobody clones it and worries.
THE Q&amp;A INVITATION IS REAL: "Bring a workflow file and we'll look at it together." Mean it - if someone opens one, that's the most valuable ten minutes of the hour.
LIKELY QUESTIONS - have answers ready:
- "Does retention delete my artifacts too?" No change there. Artifacts already followed the setting. What's new is checks, runs and statuses joining them.
- "Can we opt out of the arm64 migration?" Not on the windows-11-arm label. Pin the VS2026 label, or self-host.
- "Is the AI-generated workflow any good?" It's a reasonable starting point in public preview. Review it like any PR. Don't merge unread.
- "When does any of this reach GHES?" CodeQL improvements arrive in a future GHES release. Code Quality path and coverage auto-enablement are cloud-only today - no announced GHES date. Don't guess at one.
IF YOU HAVE TIME LEFT: walk the repo live. It's better than filling with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476488" y="3246120"/>
            <a:ext cx="576072" cy="0"/>
          </a:xfrm>
          <a:prstGeom prst="line">
            <a:avLst/>
          </a:prstGeom>
          <a:noFill/>
          <a:ln w="19050">
            <a:solidFill>
              <a:srgbClr val="2F81F7">
                <a:alpha val="45000"/>
              </a:srgbClr>
            </a:solidFill>
            <a:prstDash val="solid"/>
          </a:ln>
        </p:spPr>
      </p:sp>
      <p:sp>
        <p:nvSpPr>
          <p:cNvPr id="3" name="Shape 1"/>
          <p:cNvSpPr/>
          <p:nvPr/>
        </p:nvSpPr>
        <p:spPr>
          <a:xfrm>
            <a:off x="9052560" y="2194560"/>
            <a:ext cx="0" cy="2103120"/>
          </a:xfrm>
          <a:prstGeom prst="line">
            <a:avLst/>
          </a:prstGeom>
          <a:noFill/>
          <a:ln w="19050">
            <a:solidFill>
              <a:srgbClr val="2F81F7">
                <a:alpha val="45000"/>
              </a:srgbClr>
            </a:solidFill>
            <a:prstDash val="solid"/>
          </a:ln>
        </p:spPr>
      </p:sp>
      <p:sp>
        <p:nvSpPr>
          <p:cNvPr id="4" name="Shape 2"/>
          <p:cNvSpPr/>
          <p:nvPr/>
        </p:nvSpPr>
        <p:spPr>
          <a:xfrm>
            <a:off x="9052560" y="2194560"/>
            <a:ext cx="621792" cy="0"/>
          </a:xfrm>
          <a:prstGeom prst="line">
            <a:avLst/>
          </a:prstGeom>
          <a:noFill/>
          <a:ln w="19050">
            <a:solidFill>
              <a:srgbClr val="2F81F7">
                <a:alpha val="45000"/>
              </a:srgbClr>
            </a:solidFill>
            <a:prstDash val="solid"/>
          </a:ln>
        </p:spPr>
      </p:sp>
      <p:sp>
        <p:nvSpPr>
          <p:cNvPr id="5" name="Shape 3"/>
          <p:cNvSpPr/>
          <p:nvPr/>
        </p:nvSpPr>
        <p:spPr>
          <a:xfrm>
            <a:off x="9052560" y="3246120"/>
            <a:ext cx="621792" cy="0"/>
          </a:xfrm>
          <a:prstGeom prst="line">
            <a:avLst/>
          </a:prstGeom>
          <a:noFill/>
          <a:ln w="19050">
            <a:solidFill>
              <a:srgbClr val="2F81F7">
                <a:alpha val="45000"/>
              </a:srgbClr>
            </a:solidFill>
            <a:prstDash val="solid"/>
          </a:ln>
        </p:spPr>
      </p:sp>
      <p:sp>
        <p:nvSpPr>
          <p:cNvPr id="6" name="Shape 4"/>
          <p:cNvSpPr/>
          <p:nvPr/>
        </p:nvSpPr>
        <p:spPr>
          <a:xfrm>
            <a:off x="9052560" y="4297680"/>
            <a:ext cx="621792" cy="0"/>
          </a:xfrm>
          <a:prstGeom prst="line">
            <a:avLst/>
          </a:prstGeom>
          <a:noFill/>
          <a:ln w="19050">
            <a:solidFill>
              <a:srgbClr val="2F81F7">
                <a:alpha val="45000"/>
              </a:srgbClr>
            </a:solidFill>
            <a:prstDash val="solid"/>
          </a:ln>
        </p:spPr>
      </p:sp>
      <p:sp>
        <p:nvSpPr>
          <p:cNvPr id="7" name="Shape 5"/>
          <p:cNvSpPr/>
          <p:nvPr/>
        </p:nvSpPr>
        <p:spPr>
          <a:xfrm>
            <a:off x="9985248" y="2194560"/>
            <a:ext cx="621792" cy="0"/>
          </a:xfrm>
          <a:prstGeom prst="line">
            <a:avLst/>
          </a:prstGeom>
          <a:noFill/>
          <a:ln w="19050">
            <a:solidFill>
              <a:srgbClr val="2F81F7">
                <a:alpha val="45000"/>
              </a:srgbClr>
            </a:solidFill>
            <a:prstDash val="solid"/>
          </a:ln>
        </p:spPr>
      </p:sp>
      <p:sp>
        <p:nvSpPr>
          <p:cNvPr id="8" name="Shape 6"/>
          <p:cNvSpPr/>
          <p:nvPr/>
        </p:nvSpPr>
        <p:spPr>
          <a:xfrm>
            <a:off x="9985248" y="3246120"/>
            <a:ext cx="621792" cy="0"/>
          </a:xfrm>
          <a:prstGeom prst="line">
            <a:avLst/>
          </a:prstGeom>
          <a:noFill/>
          <a:ln w="19050">
            <a:solidFill>
              <a:srgbClr val="2F81F7">
                <a:alpha val="45000"/>
              </a:srgbClr>
            </a:solidFill>
            <a:prstDash val="solid"/>
          </a:ln>
        </p:spPr>
      </p:sp>
      <p:sp>
        <p:nvSpPr>
          <p:cNvPr id="9" name="Shape 7"/>
          <p:cNvSpPr/>
          <p:nvPr/>
        </p:nvSpPr>
        <p:spPr>
          <a:xfrm>
            <a:off x="9985248" y="4297680"/>
            <a:ext cx="621792" cy="0"/>
          </a:xfrm>
          <a:prstGeom prst="line">
            <a:avLst/>
          </a:prstGeom>
          <a:noFill/>
          <a:ln w="19050">
            <a:solidFill>
              <a:srgbClr val="2F81F7">
                <a:alpha val="45000"/>
              </a:srgbClr>
            </a:solidFill>
            <a:prstDash val="solid"/>
          </a:ln>
        </p:spPr>
      </p:sp>
      <p:sp>
        <p:nvSpPr>
          <p:cNvPr id="10" name="Shape 8"/>
          <p:cNvSpPr/>
          <p:nvPr/>
        </p:nvSpPr>
        <p:spPr>
          <a:xfrm>
            <a:off x="10607040" y="2194560"/>
            <a:ext cx="0" cy="2103120"/>
          </a:xfrm>
          <a:prstGeom prst="line">
            <a:avLst/>
          </a:prstGeom>
          <a:noFill/>
          <a:ln w="19050">
            <a:solidFill>
              <a:srgbClr val="2F81F7">
                <a:alpha val="45000"/>
              </a:srgbClr>
            </a:solidFill>
            <a:prstDash val="solid"/>
          </a:ln>
        </p:spPr>
      </p:sp>
      <p:sp>
        <p:nvSpPr>
          <p:cNvPr id="11" name="Shape 9"/>
          <p:cNvSpPr/>
          <p:nvPr/>
        </p:nvSpPr>
        <p:spPr>
          <a:xfrm>
            <a:off x="10607040" y="3246120"/>
            <a:ext cx="576072" cy="0"/>
          </a:xfrm>
          <a:prstGeom prst="line">
            <a:avLst/>
          </a:prstGeom>
          <a:noFill/>
          <a:ln w="19050">
            <a:solidFill>
              <a:srgbClr val="2F81F7">
                <a:alpha val="45000"/>
              </a:srgbClr>
            </a:solidFill>
            <a:prstDash val="solid"/>
          </a:ln>
        </p:spPr>
      </p:sp>
      <p:sp>
        <p:nvSpPr>
          <p:cNvPr id="12" name="Shape 10"/>
          <p:cNvSpPr/>
          <p:nvPr/>
        </p:nvSpPr>
        <p:spPr>
          <a:xfrm>
            <a:off x="8165592" y="3090672"/>
            <a:ext cx="310896" cy="310896"/>
          </a:xfrm>
          <a:prstGeom prst="roundRect">
            <a:avLst>
              <a:gd name="adj" fmla="val 23529"/>
            </a:avLst>
          </a:prstGeom>
          <a:solidFill>
            <a:srgbClr val="1C2430"/>
          </a:solidFill>
          <a:ln w="15875">
            <a:solidFill>
              <a:srgbClr val="2F81F7"/>
            </a:solidFill>
            <a:prstDash val="solid"/>
          </a:ln>
        </p:spPr>
      </p:sp>
      <p:sp>
        <p:nvSpPr>
          <p:cNvPr id="13" name="Shape 11"/>
          <p:cNvSpPr/>
          <p:nvPr/>
        </p:nvSpPr>
        <p:spPr>
          <a:xfrm>
            <a:off x="9674352" y="2039112"/>
            <a:ext cx="310896" cy="310896"/>
          </a:xfrm>
          <a:prstGeom prst="roundRect">
            <a:avLst>
              <a:gd name="adj" fmla="val 23529"/>
            </a:avLst>
          </a:prstGeom>
          <a:solidFill>
            <a:srgbClr val="1C2430"/>
          </a:solidFill>
          <a:ln w="15875">
            <a:solidFill>
              <a:srgbClr val="2F81F7"/>
            </a:solidFill>
            <a:prstDash val="solid"/>
          </a:ln>
        </p:spPr>
      </p:sp>
      <p:sp>
        <p:nvSpPr>
          <p:cNvPr id="14" name="Shape 12"/>
          <p:cNvSpPr/>
          <p:nvPr/>
        </p:nvSpPr>
        <p:spPr>
          <a:xfrm>
            <a:off x="9674352" y="3090672"/>
            <a:ext cx="310896" cy="310896"/>
          </a:xfrm>
          <a:prstGeom prst="roundRect">
            <a:avLst>
              <a:gd name="adj" fmla="val 23529"/>
            </a:avLst>
          </a:prstGeom>
          <a:solidFill>
            <a:srgbClr val="2F81F7"/>
          </a:solidFill>
          <a:ln w="15875">
            <a:solidFill>
              <a:srgbClr val="2F81F7"/>
            </a:solidFill>
            <a:prstDash val="solid"/>
          </a:ln>
        </p:spPr>
      </p:sp>
      <p:sp>
        <p:nvSpPr>
          <p:cNvPr id="15" name="Shape 13"/>
          <p:cNvSpPr/>
          <p:nvPr/>
        </p:nvSpPr>
        <p:spPr>
          <a:xfrm>
            <a:off x="9674352" y="4142232"/>
            <a:ext cx="310896" cy="310896"/>
          </a:xfrm>
          <a:prstGeom prst="roundRect">
            <a:avLst>
              <a:gd name="adj" fmla="val 23529"/>
            </a:avLst>
          </a:prstGeom>
          <a:solidFill>
            <a:srgbClr val="1C2430"/>
          </a:solidFill>
          <a:ln w="15875">
            <a:solidFill>
              <a:srgbClr val="2F81F7"/>
            </a:solidFill>
            <a:prstDash val="solid"/>
          </a:ln>
        </p:spPr>
      </p:sp>
      <p:sp>
        <p:nvSpPr>
          <p:cNvPr id="16" name="Shape 14"/>
          <p:cNvSpPr/>
          <p:nvPr/>
        </p:nvSpPr>
        <p:spPr>
          <a:xfrm>
            <a:off x="11183112" y="3090672"/>
            <a:ext cx="310896" cy="310896"/>
          </a:xfrm>
          <a:prstGeom prst="roundRect">
            <a:avLst>
              <a:gd name="adj" fmla="val 23529"/>
            </a:avLst>
          </a:prstGeom>
          <a:solidFill>
            <a:srgbClr val="1C2430"/>
          </a:solidFill>
          <a:ln w="15875">
            <a:solidFill>
              <a:srgbClr val="3FB950"/>
            </a:solidFill>
            <a:prstDash val="solid"/>
          </a:ln>
        </p:spPr>
      </p:sp>
      <p:sp>
        <p:nvSpPr>
          <p:cNvPr id="17" name="Shape 15"/>
          <p:cNvSpPr/>
          <p:nvPr/>
        </p:nvSpPr>
        <p:spPr>
          <a:xfrm>
            <a:off x="640080" y="1810512"/>
            <a:ext cx="64008" cy="256032"/>
          </a:xfrm>
          <a:prstGeom prst="rect">
            <a:avLst/>
          </a:prstGeom>
          <a:solidFill>
            <a:srgbClr val="2F81F7"/>
          </a:solidFill>
          <a:ln/>
        </p:spPr>
      </p:sp>
      <p:sp>
        <p:nvSpPr>
          <p:cNvPr id="18" name="Text 16"/>
          <p:cNvSpPr/>
          <p:nvPr/>
        </p:nvSpPr>
        <p:spPr>
          <a:xfrm>
            <a:off x="822960" y="1773936"/>
            <a:ext cx="6858000" cy="329184"/>
          </a:xfrm>
          <a:prstGeom prst="rect">
            <a:avLst/>
          </a:prstGeom>
          <a:noFill/>
          <a:ln/>
        </p:spPr>
        <p:txBody>
          <a:bodyPr wrap="square" lIns="0" tIns="0" rIns="0" bIns="0" rtlCol="0" anchor="ctr"/>
          <a:lstStyle/>
          <a:p>
            <a:pPr indent="0" marL="0">
              <a:buNone/>
            </a:pPr>
            <a:r>
              <a:rPr lang="en-US" sz="1200" b="1" spc="200" kern="0" dirty="0">
                <a:solidFill>
                  <a:srgbClr val="2F81F7"/>
                </a:solidFill>
                <a:latin typeface="Consolas" pitchFamily="34" charset="0"/>
                <a:ea typeface="Consolas" pitchFamily="34" charset="-122"/>
                <a:cs typeface="Consolas" pitchFamily="34" charset="-120"/>
              </a:rPr>
              <a:t>GITHUB ACTIONS  /  OFFICE HOUR</a:t>
            </a:r>
            <a:endParaRPr lang="en-US" sz="1200" dirty="0"/>
          </a:p>
        </p:txBody>
      </p:sp>
      <p:sp>
        <p:nvSpPr>
          <p:cNvPr id="19" name="Text 17"/>
          <p:cNvSpPr/>
          <p:nvPr/>
        </p:nvSpPr>
        <p:spPr>
          <a:xfrm>
            <a:off x="640080" y="2231136"/>
            <a:ext cx="7315200" cy="1737360"/>
          </a:xfrm>
          <a:prstGeom prst="rect">
            <a:avLst/>
          </a:prstGeom>
          <a:noFill/>
          <a:ln/>
        </p:spPr>
        <p:txBody>
          <a:bodyPr wrap="square" lIns="0" tIns="0" rIns="0" bIns="0" rtlCol="0" anchor="ctr"/>
          <a:lstStyle/>
          <a:p>
            <a:pPr indent="0" marL="0">
              <a:lnSpc>
                <a:spcPts val="5300"/>
              </a:lnSpc>
              <a:buNone/>
            </a:pPr>
            <a:r>
              <a:rPr lang="en-US" sz="4600" b="1" dirty="0">
                <a:solidFill>
                  <a:srgbClr val="E6EDF3"/>
                </a:solidFill>
                <a:latin typeface="Trebuchet MS" pitchFamily="34" charset="0"/>
                <a:ea typeface="Trebuchet MS" pitchFamily="34" charset="-122"/>
                <a:cs typeface="Trebuchet MS" pitchFamily="34" charset="-120"/>
              </a:rPr>
              <a:t>What's new in</a:t>
            </a:r>
            <a:endParaRPr lang="en-US" sz="4600" dirty="0"/>
          </a:p>
          <a:p>
            <a:pPr indent="0" marL="0">
              <a:lnSpc>
                <a:spcPts val="5300"/>
              </a:lnSpc>
              <a:buNone/>
            </a:pPr>
            <a:r>
              <a:rPr lang="en-US" sz="4600" b="1" dirty="0">
                <a:solidFill>
                  <a:srgbClr val="E6EDF3"/>
                </a:solidFill>
                <a:latin typeface="Trebuchet MS" pitchFamily="34" charset="0"/>
                <a:ea typeface="Trebuchet MS" pitchFamily="34" charset="-122"/>
                <a:cs typeface="Trebuchet MS" pitchFamily="34" charset="-120"/>
              </a:rPr>
              <a:t>GitHub Actions</a:t>
            </a:r>
            <a:endParaRPr lang="en-US" sz="4600" dirty="0"/>
          </a:p>
        </p:txBody>
      </p:sp>
      <p:sp>
        <p:nvSpPr>
          <p:cNvPr id="20" name="Text 18"/>
          <p:cNvSpPr/>
          <p:nvPr/>
        </p:nvSpPr>
        <p:spPr>
          <a:xfrm>
            <a:off x="640080" y="4114800"/>
            <a:ext cx="6675120" cy="868680"/>
          </a:xfrm>
          <a:prstGeom prst="rect">
            <a:avLst/>
          </a:prstGeom>
          <a:noFill/>
          <a:ln/>
        </p:spPr>
        <p:txBody>
          <a:bodyPr wrap="square" lIns="0" tIns="0" rIns="0" bIns="0" rtlCol="0" anchor="ctr"/>
          <a:lstStyle/>
          <a:p>
            <a:pPr indent="0" marL="0">
              <a:lnSpc>
                <a:spcPts val="2400"/>
              </a:lnSpc>
              <a:buNone/>
            </a:pPr>
            <a:r>
              <a:rPr lang="en-US" sz="1500" dirty="0">
                <a:solidFill>
                  <a:srgbClr val="A9B4C0"/>
                </a:solidFill>
                <a:latin typeface="Calibri" pitchFamily="34" charset="0"/>
                <a:ea typeface="Calibri" pitchFamily="34" charset="-122"/>
                <a:cs typeface="Calibri" pitchFamily="34" charset="-120"/>
              </a:rPr>
              <a:t>Six updates from June to August 2026 that change how your workflows run, what they can reach, and how long their history sticks around.</a:t>
            </a:r>
            <a:endParaRPr lang="en-US" sz="1500" dirty="0"/>
          </a:p>
        </p:txBody>
      </p:sp>
      <p:sp>
        <p:nvSpPr>
          <p:cNvPr id="21" name="Shape 19"/>
          <p:cNvSpPr/>
          <p:nvPr/>
        </p:nvSpPr>
        <p:spPr>
          <a:xfrm>
            <a:off x="0" y="5806440"/>
            <a:ext cx="12191695" cy="1051560"/>
          </a:xfrm>
          <a:prstGeom prst="rect">
            <a:avLst/>
          </a:prstGeom>
          <a:solidFill>
            <a:srgbClr val="161B22"/>
          </a:solidFill>
          <a:ln/>
        </p:spPr>
      </p:sp>
      <p:sp>
        <p:nvSpPr>
          <p:cNvPr id="22" name="Shape 20"/>
          <p:cNvSpPr/>
          <p:nvPr/>
        </p:nvSpPr>
        <p:spPr>
          <a:xfrm>
            <a:off x="0" y="5806440"/>
            <a:ext cx="12191695" cy="32004"/>
          </a:xfrm>
          <a:prstGeom prst="rect">
            <a:avLst/>
          </a:prstGeom>
          <a:solidFill>
            <a:srgbClr val="2F81F7"/>
          </a:solidFill>
          <a:ln/>
        </p:spPr>
      </p:sp>
      <p:sp>
        <p:nvSpPr>
          <p:cNvPr id="23" name="Text 21"/>
          <p:cNvSpPr/>
          <p:nvPr/>
        </p:nvSpPr>
        <p:spPr>
          <a:xfrm>
            <a:off x="640080" y="6035040"/>
            <a:ext cx="6400800" cy="457200"/>
          </a:xfrm>
          <a:prstGeom prst="rect">
            <a:avLst/>
          </a:prstGeom>
          <a:noFill/>
          <a:ln/>
        </p:spPr>
        <p:txBody>
          <a:bodyPr wrap="square" lIns="0" tIns="0" rIns="0" bIns="0" rtlCol="0" anchor="ctr"/>
          <a:lstStyle/>
          <a:p>
            <a:pPr indent="0" marL="0">
              <a:buNone/>
            </a:pPr>
            <a:r>
              <a:rPr lang="en-US" sz="1500" b="1" dirty="0">
                <a:solidFill>
                  <a:srgbClr val="E6EDF3"/>
                </a:solidFill>
                <a:latin typeface="Trebuchet MS" pitchFamily="34" charset="0"/>
                <a:ea typeface="Trebuchet MS" pitchFamily="34" charset="-122"/>
                <a:cs typeface="Trebuchet MS" pitchFamily="34" charset="-120"/>
              </a:rPr>
              <a:t>DXC  ·  GitHub Actions Office Hour</a:t>
            </a:r>
            <a:endParaRPr lang="en-US" sz="1500" dirty="0"/>
          </a:p>
        </p:txBody>
      </p:sp>
      <p:sp>
        <p:nvSpPr>
          <p:cNvPr id="24" name="Text 22"/>
          <p:cNvSpPr/>
          <p:nvPr/>
        </p:nvSpPr>
        <p:spPr>
          <a:xfrm>
            <a:off x="8716975" y="6035040"/>
            <a:ext cx="2834640" cy="457200"/>
          </a:xfrm>
          <a:prstGeom prst="rect">
            <a:avLst/>
          </a:prstGeom>
          <a:noFill/>
          <a:ln/>
        </p:spPr>
        <p:txBody>
          <a:bodyPr wrap="square" lIns="0" tIns="0" rIns="0" bIns="0" rtlCol="0" anchor="ctr"/>
          <a:lstStyle/>
          <a:p>
            <a:pPr algn="r" indent="0" marL="0">
              <a:buNone/>
            </a:pPr>
            <a:r>
              <a:rPr lang="en-US" sz="1300" dirty="0">
                <a:solidFill>
                  <a:srgbClr val="A9B4C0"/>
                </a:solidFill>
                <a:latin typeface="Consolas" pitchFamily="34" charset="0"/>
                <a:ea typeface="Consolas" pitchFamily="34" charset="-122"/>
                <a:cs typeface="Consolas" pitchFamily="34" charset="-120"/>
              </a:rPr>
              <a:t>September 8,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640080" y="475488"/>
            <a:ext cx="50292" cy="219456"/>
          </a:xfrm>
          <a:prstGeom prst="rect">
            <a:avLst/>
          </a:prstGeom>
          <a:solidFill>
            <a:srgbClr val="2F81F7"/>
          </a:solidFill>
          <a:ln/>
        </p:spPr>
      </p:sp>
      <p:sp>
        <p:nvSpPr>
          <p:cNvPr id="3" name="Text 1"/>
          <p:cNvSpPr/>
          <p:nvPr/>
        </p:nvSpPr>
        <p:spPr>
          <a:xfrm>
            <a:off x="786384" y="438912"/>
            <a:ext cx="7772400" cy="292608"/>
          </a:xfrm>
          <a:prstGeom prst="rect">
            <a:avLst/>
          </a:prstGeom>
          <a:noFill/>
          <a:ln/>
        </p:spPr>
        <p:txBody>
          <a:bodyPr wrap="square" lIns="0" tIns="0" rIns="0" bIns="0" rtlCol="0" anchor="ctr"/>
          <a:lstStyle/>
          <a:p>
            <a:pPr indent="0" marL="0">
              <a:buNone/>
            </a:pPr>
            <a:r>
              <a:rPr lang="en-US" sz="1050" b="1" spc="140" kern="0" dirty="0">
                <a:solidFill>
                  <a:srgbClr val="2F81F7"/>
                </a:solidFill>
                <a:latin typeface="Consolas" pitchFamily="34" charset="0"/>
                <a:ea typeface="Consolas" pitchFamily="34" charset="-122"/>
                <a:cs typeface="Consolas" pitchFamily="34" charset="-120"/>
              </a:rPr>
              <a:t>AGENDA</a:t>
            </a:r>
            <a:endParaRPr lang="en-US" sz="1050" dirty="0"/>
          </a:p>
        </p:txBody>
      </p:sp>
      <p:sp>
        <p:nvSpPr>
          <p:cNvPr id="4" name="Text 2"/>
          <p:cNvSpPr/>
          <p:nvPr/>
        </p:nvSpPr>
        <p:spPr>
          <a:xfrm>
            <a:off x="640080" y="786384"/>
            <a:ext cx="10911535" cy="713232"/>
          </a:xfrm>
          <a:prstGeom prst="rect">
            <a:avLst/>
          </a:prstGeom>
          <a:noFill/>
          <a:ln/>
        </p:spPr>
        <p:txBody>
          <a:bodyPr wrap="square" lIns="0" tIns="0" rIns="0" bIns="0" rtlCol="0" anchor="ctr"/>
          <a:lstStyle/>
          <a:p>
            <a:pPr indent="0" marL="0">
              <a:buNone/>
            </a:pPr>
            <a:r>
              <a:rPr lang="en-US" sz="3300" b="1" dirty="0">
                <a:solidFill>
                  <a:srgbClr val="E6EDF3"/>
                </a:solidFill>
                <a:latin typeface="Trebuchet MS" pitchFamily="34" charset="0"/>
                <a:ea typeface="Trebuchet MS" pitchFamily="34" charset="-122"/>
                <a:cs typeface="Trebuchet MS" pitchFamily="34" charset="-120"/>
              </a:rPr>
              <a:t>Six updates, two of them on a clock</a:t>
            </a:r>
            <a:endParaRPr lang="en-US" sz="3300" dirty="0"/>
          </a:p>
        </p:txBody>
      </p:sp>
      <p:sp>
        <p:nvSpPr>
          <p:cNvPr id="5" name="Shape 3"/>
          <p:cNvSpPr/>
          <p:nvPr/>
        </p:nvSpPr>
        <p:spPr>
          <a:xfrm>
            <a:off x="640080" y="1645920"/>
            <a:ext cx="3393338" cy="201168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6" name="Shape 4"/>
          <p:cNvSpPr/>
          <p:nvPr/>
        </p:nvSpPr>
        <p:spPr>
          <a:xfrm>
            <a:off x="640080" y="1645920"/>
            <a:ext cx="54864" cy="2011680"/>
          </a:xfrm>
          <a:prstGeom prst="rect">
            <a:avLst/>
          </a:prstGeom>
          <a:solidFill>
            <a:srgbClr val="F0883E"/>
          </a:solidFill>
          <a:ln/>
        </p:spPr>
      </p:sp>
      <p:pic>
        <p:nvPicPr>
          <p:cNvPr id="7" name="Image 0" descr="preencoded.png">    </p:cNvPr>
          <p:cNvPicPr>
            <a:picLocks noChangeAspect="1"/>
          </p:cNvPicPr>
          <p:nvPr/>
        </p:nvPicPr>
        <p:blipFill>
          <a:blip r:embed="rId1"/>
          <a:stretch>
            <a:fillRect/>
          </a:stretch>
        </p:blipFill>
        <p:spPr>
          <a:xfrm>
            <a:off x="914400" y="1901952"/>
            <a:ext cx="329184" cy="329184"/>
          </a:xfrm>
          <a:prstGeom prst="rect">
            <a:avLst/>
          </a:prstGeom>
        </p:spPr>
      </p:pic>
      <p:sp>
        <p:nvSpPr>
          <p:cNvPr id="8" name="Text 5"/>
          <p:cNvSpPr/>
          <p:nvPr/>
        </p:nvSpPr>
        <p:spPr>
          <a:xfrm>
            <a:off x="3027578" y="1828800"/>
            <a:ext cx="731520" cy="365760"/>
          </a:xfrm>
          <a:prstGeom prst="rect">
            <a:avLst/>
          </a:prstGeom>
          <a:noFill/>
          <a:ln/>
        </p:spPr>
        <p:txBody>
          <a:bodyPr wrap="square" lIns="0" tIns="0" rIns="0" bIns="0" rtlCol="0" anchor="ctr"/>
          <a:lstStyle/>
          <a:p>
            <a:pPr algn="r" indent="0" marL="0">
              <a:buNone/>
            </a:pPr>
            <a:r>
              <a:rPr lang="en-US" sz="2100" b="1" dirty="0">
                <a:solidFill>
                  <a:srgbClr val="30363D"/>
                </a:solidFill>
                <a:latin typeface="Consolas" pitchFamily="34" charset="0"/>
                <a:ea typeface="Consolas" pitchFamily="34" charset="-122"/>
                <a:cs typeface="Consolas" pitchFamily="34" charset="-120"/>
              </a:rPr>
              <a:t>01</a:t>
            </a:r>
            <a:endParaRPr lang="en-US" sz="2100" dirty="0"/>
          </a:p>
        </p:txBody>
      </p:sp>
      <p:sp>
        <p:nvSpPr>
          <p:cNvPr id="9" name="Text 6"/>
          <p:cNvSpPr/>
          <p:nvPr/>
        </p:nvSpPr>
        <p:spPr>
          <a:xfrm>
            <a:off x="2753258" y="2212848"/>
            <a:ext cx="1005840" cy="219456"/>
          </a:xfrm>
          <a:prstGeom prst="rect">
            <a:avLst/>
          </a:prstGeom>
          <a:noFill/>
          <a:ln/>
        </p:spPr>
        <p:txBody>
          <a:bodyPr wrap="square" lIns="0" tIns="0" rIns="0" bIns="0" rtlCol="0" anchor="ctr"/>
          <a:lstStyle/>
          <a:p>
            <a:pPr algn="r" indent="0" marL="0">
              <a:buNone/>
            </a:pPr>
            <a:r>
              <a:rPr lang="en-US" sz="900" b="1" dirty="0">
                <a:solidFill>
                  <a:srgbClr val="F0883E"/>
                </a:solidFill>
                <a:latin typeface="Consolas" pitchFamily="34" charset="0"/>
                <a:ea typeface="Consolas" pitchFamily="34" charset="-122"/>
                <a:cs typeface="Consolas" pitchFamily="34" charset="-120"/>
              </a:rPr>
              <a:t>AUG 27</a:t>
            </a:r>
            <a:endParaRPr lang="en-US" sz="900" dirty="0"/>
          </a:p>
        </p:txBody>
      </p:sp>
      <p:sp>
        <p:nvSpPr>
          <p:cNvPr id="10" name="Text 7"/>
          <p:cNvSpPr/>
          <p:nvPr/>
        </p:nvSpPr>
        <p:spPr>
          <a:xfrm>
            <a:off x="914400" y="2359152"/>
            <a:ext cx="2844698" cy="548640"/>
          </a:xfrm>
          <a:prstGeom prst="rect">
            <a:avLst/>
          </a:prstGeom>
          <a:noFill/>
          <a:ln/>
        </p:spPr>
        <p:txBody>
          <a:bodyPr wrap="square" lIns="0" tIns="0" rIns="0" bIns="0" rtlCol="0" anchor="b"/>
          <a:lstStyle/>
          <a:p>
            <a:pPr indent="0" marL="0">
              <a:lnSpc>
                <a:spcPts val="2000"/>
              </a:lnSpc>
              <a:buNone/>
            </a:pPr>
            <a:r>
              <a:rPr lang="en-US" sz="1500" b="1" dirty="0">
                <a:solidFill>
                  <a:srgbClr val="E6EDF3"/>
                </a:solidFill>
                <a:latin typeface="Trebuchet MS" pitchFamily="34" charset="0"/>
                <a:ea typeface="Trebuchet MS" pitchFamily="34" charset="-122"/>
                <a:cs typeface="Trebuchet MS" pitchFamily="34" charset="-120"/>
              </a:rPr>
              <a:t>Retention covers checks and runs</a:t>
            </a:r>
            <a:endParaRPr lang="en-US" sz="1500" dirty="0"/>
          </a:p>
        </p:txBody>
      </p:sp>
      <p:sp>
        <p:nvSpPr>
          <p:cNvPr id="11" name="Text 8"/>
          <p:cNvSpPr/>
          <p:nvPr/>
        </p:nvSpPr>
        <p:spPr>
          <a:xfrm>
            <a:off x="914400" y="2944368"/>
            <a:ext cx="2844698" cy="585216"/>
          </a:xfrm>
          <a:prstGeom prst="rect">
            <a:avLst/>
          </a:prstGeom>
          <a:noFill/>
          <a:ln/>
        </p:spPr>
        <p:txBody>
          <a:bodyPr wrap="square" lIns="0" tIns="0" rIns="0" bIns="0" rtlCol="0" anchor="t"/>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Checks, workflow runs and statuses drop to your Actions retention setting.</a:t>
            </a:r>
            <a:endParaRPr lang="en-US" sz="1150" dirty="0"/>
          </a:p>
        </p:txBody>
      </p:sp>
      <p:sp>
        <p:nvSpPr>
          <p:cNvPr id="12" name="Shape 9"/>
          <p:cNvSpPr/>
          <p:nvPr/>
        </p:nvSpPr>
        <p:spPr>
          <a:xfrm>
            <a:off x="4399178" y="1645920"/>
            <a:ext cx="3393338" cy="201168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13" name="Shape 10"/>
          <p:cNvSpPr/>
          <p:nvPr/>
        </p:nvSpPr>
        <p:spPr>
          <a:xfrm>
            <a:off x="4399178" y="1645920"/>
            <a:ext cx="54864" cy="2011680"/>
          </a:xfrm>
          <a:prstGeom prst="rect">
            <a:avLst/>
          </a:prstGeom>
          <a:solidFill>
            <a:srgbClr val="F0883E"/>
          </a:solidFill>
          <a:ln/>
        </p:spPr>
      </p:sp>
      <p:pic>
        <p:nvPicPr>
          <p:cNvPr id="14" name="Image 1" descr="preencoded.png">    </p:cNvPr>
          <p:cNvPicPr>
            <a:picLocks noChangeAspect="1"/>
          </p:cNvPicPr>
          <p:nvPr/>
        </p:nvPicPr>
        <p:blipFill>
          <a:blip r:embed="rId2"/>
          <a:stretch>
            <a:fillRect/>
          </a:stretch>
        </p:blipFill>
        <p:spPr>
          <a:xfrm>
            <a:off x="4673498" y="1901952"/>
            <a:ext cx="329184" cy="329184"/>
          </a:xfrm>
          <a:prstGeom prst="rect">
            <a:avLst/>
          </a:prstGeom>
        </p:spPr>
      </p:pic>
      <p:sp>
        <p:nvSpPr>
          <p:cNvPr id="15" name="Text 11"/>
          <p:cNvSpPr/>
          <p:nvPr/>
        </p:nvSpPr>
        <p:spPr>
          <a:xfrm>
            <a:off x="6786677" y="1828800"/>
            <a:ext cx="731520" cy="365760"/>
          </a:xfrm>
          <a:prstGeom prst="rect">
            <a:avLst/>
          </a:prstGeom>
          <a:noFill/>
          <a:ln/>
        </p:spPr>
        <p:txBody>
          <a:bodyPr wrap="square" lIns="0" tIns="0" rIns="0" bIns="0" rtlCol="0" anchor="ctr"/>
          <a:lstStyle/>
          <a:p>
            <a:pPr algn="r" indent="0" marL="0">
              <a:buNone/>
            </a:pPr>
            <a:r>
              <a:rPr lang="en-US" sz="2100" b="1" dirty="0">
                <a:solidFill>
                  <a:srgbClr val="30363D"/>
                </a:solidFill>
                <a:latin typeface="Consolas" pitchFamily="34" charset="0"/>
                <a:ea typeface="Consolas" pitchFamily="34" charset="-122"/>
                <a:cs typeface="Consolas" pitchFamily="34" charset="-120"/>
              </a:rPr>
              <a:t>02</a:t>
            </a:r>
            <a:endParaRPr lang="en-US" sz="2100" dirty="0"/>
          </a:p>
        </p:txBody>
      </p:sp>
      <p:sp>
        <p:nvSpPr>
          <p:cNvPr id="16" name="Text 12"/>
          <p:cNvSpPr/>
          <p:nvPr/>
        </p:nvSpPr>
        <p:spPr>
          <a:xfrm>
            <a:off x="6512357" y="2212848"/>
            <a:ext cx="1005840" cy="219456"/>
          </a:xfrm>
          <a:prstGeom prst="rect">
            <a:avLst/>
          </a:prstGeom>
          <a:noFill/>
          <a:ln/>
        </p:spPr>
        <p:txBody>
          <a:bodyPr wrap="square" lIns="0" tIns="0" rIns="0" bIns="0" rtlCol="0" anchor="ctr"/>
          <a:lstStyle/>
          <a:p>
            <a:pPr algn="r" indent="0" marL="0">
              <a:buNone/>
            </a:pPr>
            <a:r>
              <a:rPr lang="en-US" sz="900" b="1" dirty="0">
                <a:solidFill>
                  <a:srgbClr val="F0883E"/>
                </a:solidFill>
                <a:latin typeface="Consolas" pitchFamily="34" charset="0"/>
                <a:ea typeface="Consolas" pitchFamily="34" charset="-122"/>
                <a:cs typeface="Consolas" pitchFamily="34" charset="-120"/>
              </a:rPr>
              <a:t>AUG 20</a:t>
            </a:r>
            <a:endParaRPr lang="en-US" sz="900" dirty="0"/>
          </a:p>
        </p:txBody>
      </p:sp>
      <p:sp>
        <p:nvSpPr>
          <p:cNvPr id="17" name="Text 13"/>
          <p:cNvSpPr/>
          <p:nvPr/>
        </p:nvSpPr>
        <p:spPr>
          <a:xfrm>
            <a:off x="4673498" y="2359152"/>
            <a:ext cx="2844698" cy="548640"/>
          </a:xfrm>
          <a:prstGeom prst="rect">
            <a:avLst/>
          </a:prstGeom>
          <a:noFill/>
          <a:ln/>
        </p:spPr>
        <p:txBody>
          <a:bodyPr wrap="square" lIns="0" tIns="0" rIns="0" bIns="0" rtlCol="0" anchor="b"/>
          <a:lstStyle/>
          <a:p>
            <a:pPr indent="0" marL="0">
              <a:lnSpc>
                <a:spcPts val="2000"/>
              </a:lnSpc>
              <a:buNone/>
            </a:pPr>
            <a:r>
              <a:rPr lang="en-US" sz="1500" b="1" dirty="0">
                <a:solidFill>
                  <a:srgbClr val="E6EDF3"/>
                </a:solidFill>
                <a:latin typeface="Trebuchet MS" pitchFamily="34" charset="0"/>
                <a:ea typeface="Trebuchet MS" pitchFamily="34" charset="-122"/>
                <a:cs typeface="Trebuchet MS" pitchFamily="34" charset="-120"/>
              </a:rPr>
              <a:t>Windows 11 arm64 with VS2026</a:t>
            </a:r>
            <a:endParaRPr lang="en-US" sz="1500" dirty="0"/>
          </a:p>
        </p:txBody>
      </p:sp>
      <p:sp>
        <p:nvSpPr>
          <p:cNvPr id="18" name="Text 14"/>
          <p:cNvSpPr/>
          <p:nvPr/>
        </p:nvSpPr>
        <p:spPr>
          <a:xfrm>
            <a:off x="4673498" y="2944368"/>
            <a:ext cx="2844698" cy="585216"/>
          </a:xfrm>
          <a:prstGeom prst="rect">
            <a:avLst/>
          </a:prstGeom>
          <a:noFill/>
          <a:ln/>
        </p:spPr>
        <p:txBody>
          <a:bodyPr wrap="square" lIns="0" tIns="0" rIns="0" bIns="0" rtlCol="0" anchor="t"/>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The image is GA, and the windows-11-arm label migrates to it this month.</a:t>
            </a:r>
            <a:endParaRPr lang="en-US" sz="1150" dirty="0"/>
          </a:p>
        </p:txBody>
      </p:sp>
      <p:sp>
        <p:nvSpPr>
          <p:cNvPr id="19" name="Shape 15"/>
          <p:cNvSpPr/>
          <p:nvPr/>
        </p:nvSpPr>
        <p:spPr>
          <a:xfrm>
            <a:off x="8158277" y="1645920"/>
            <a:ext cx="3393338" cy="201168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0" name="Shape 16"/>
          <p:cNvSpPr/>
          <p:nvPr/>
        </p:nvSpPr>
        <p:spPr>
          <a:xfrm>
            <a:off x="8158277" y="1645920"/>
            <a:ext cx="54864" cy="2011680"/>
          </a:xfrm>
          <a:prstGeom prst="rect">
            <a:avLst/>
          </a:prstGeom>
          <a:solidFill>
            <a:srgbClr val="A371F7"/>
          </a:solidFill>
          <a:ln/>
        </p:spPr>
      </p:sp>
      <p:pic>
        <p:nvPicPr>
          <p:cNvPr id="21" name="Image 2" descr="preencoded.png">    </p:cNvPr>
          <p:cNvPicPr>
            <a:picLocks noChangeAspect="1"/>
          </p:cNvPicPr>
          <p:nvPr/>
        </p:nvPicPr>
        <p:blipFill>
          <a:blip r:embed="rId3"/>
          <a:stretch>
            <a:fillRect/>
          </a:stretch>
        </p:blipFill>
        <p:spPr>
          <a:xfrm>
            <a:off x="8432597" y="1901952"/>
            <a:ext cx="329184" cy="329184"/>
          </a:xfrm>
          <a:prstGeom prst="rect">
            <a:avLst/>
          </a:prstGeom>
        </p:spPr>
      </p:pic>
      <p:sp>
        <p:nvSpPr>
          <p:cNvPr id="22" name="Text 17"/>
          <p:cNvSpPr/>
          <p:nvPr/>
        </p:nvSpPr>
        <p:spPr>
          <a:xfrm>
            <a:off x="10545775" y="1828800"/>
            <a:ext cx="731520" cy="365760"/>
          </a:xfrm>
          <a:prstGeom prst="rect">
            <a:avLst/>
          </a:prstGeom>
          <a:noFill/>
          <a:ln/>
        </p:spPr>
        <p:txBody>
          <a:bodyPr wrap="square" lIns="0" tIns="0" rIns="0" bIns="0" rtlCol="0" anchor="ctr"/>
          <a:lstStyle/>
          <a:p>
            <a:pPr algn="r" indent="0" marL="0">
              <a:buNone/>
            </a:pPr>
            <a:r>
              <a:rPr lang="en-US" sz="2100" b="1" dirty="0">
                <a:solidFill>
                  <a:srgbClr val="30363D"/>
                </a:solidFill>
                <a:latin typeface="Consolas" pitchFamily="34" charset="0"/>
                <a:ea typeface="Consolas" pitchFamily="34" charset="-122"/>
                <a:cs typeface="Consolas" pitchFamily="34" charset="-120"/>
              </a:rPr>
              <a:t>03</a:t>
            </a:r>
            <a:endParaRPr lang="en-US" sz="2100" dirty="0"/>
          </a:p>
        </p:txBody>
      </p:sp>
      <p:sp>
        <p:nvSpPr>
          <p:cNvPr id="23" name="Text 18"/>
          <p:cNvSpPr/>
          <p:nvPr/>
        </p:nvSpPr>
        <p:spPr>
          <a:xfrm>
            <a:off x="10271455" y="2212848"/>
            <a:ext cx="1005840" cy="219456"/>
          </a:xfrm>
          <a:prstGeom prst="rect">
            <a:avLst/>
          </a:prstGeom>
          <a:noFill/>
          <a:ln/>
        </p:spPr>
        <p:txBody>
          <a:bodyPr wrap="square" lIns="0" tIns="0" rIns="0" bIns="0" rtlCol="0" anchor="ctr"/>
          <a:lstStyle/>
          <a:p>
            <a:pPr algn="r" indent="0" marL="0">
              <a:buNone/>
            </a:pPr>
            <a:r>
              <a:rPr lang="en-US" sz="900" b="1" dirty="0">
                <a:solidFill>
                  <a:srgbClr val="A371F7"/>
                </a:solidFill>
                <a:latin typeface="Consolas" pitchFamily="34" charset="0"/>
                <a:ea typeface="Consolas" pitchFamily="34" charset="-122"/>
                <a:cs typeface="Consolas" pitchFamily="34" charset="-120"/>
              </a:rPr>
              <a:t>AUG 20</a:t>
            </a:r>
            <a:endParaRPr lang="en-US" sz="900" dirty="0"/>
          </a:p>
        </p:txBody>
      </p:sp>
      <p:sp>
        <p:nvSpPr>
          <p:cNvPr id="24" name="Text 19"/>
          <p:cNvSpPr/>
          <p:nvPr/>
        </p:nvSpPr>
        <p:spPr>
          <a:xfrm>
            <a:off x="8432597" y="2359152"/>
            <a:ext cx="2844698" cy="548640"/>
          </a:xfrm>
          <a:prstGeom prst="rect">
            <a:avLst/>
          </a:prstGeom>
          <a:noFill/>
          <a:ln/>
        </p:spPr>
        <p:txBody>
          <a:bodyPr wrap="square" lIns="0" tIns="0" rIns="0" bIns="0" rtlCol="0" anchor="b"/>
          <a:lstStyle/>
          <a:p>
            <a:pPr indent="0" marL="0">
              <a:lnSpc>
                <a:spcPts val="2000"/>
              </a:lnSpc>
              <a:buNone/>
            </a:pPr>
            <a:r>
              <a:rPr lang="en-US" sz="1500" b="1" dirty="0">
                <a:solidFill>
                  <a:srgbClr val="E6EDF3"/>
                </a:solidFill>
                <a:latin typeface="Trebuchet MS" pitchFamily="34" charset="0"/>
                <a:ea typeface="Trebuchet MS" pitchFamily="34" charset="-122"/>
                <a:cs typeface="Trebuchet MS" pitchFamily="34" charset="-120"/>
              </a:rPr>
              <a:t>Code Quality gets its own path</a:t>
            </a:r>
            <a:endParaRPr lang="en-US" sz="1500" dirty="0"/>
          </a:p>
        </p:txBody>
      </p:sp>
      <p:sp>
        <p:nvSpPr>
          <p:cNvPr id="25" name="Text 20"/>
          <p:cNvSpPr/>
          <p:nvPr/>
        </p:nvSpPr>
        <p:spPr>
          <a:xfrm>
            <a:off x="8432597" y="2944368"/>
            <a:ext cx="2844698" cy="585216"/>
          </a:xfrm>
          <a:prstGeom prst="rect">
            <a:avLst/>
          </a:prstGeom>
          <a:noFill/>
          <a:ln/>
        </p:spPr>
        <p:txBody>
          <a:bodyPr wrap="square" lIns="0" tIns="0" rIns="0" bIns="0" rtlCol="0" anchor="t"/>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A new check path and actor, split away from code scanning.</a:t>
            </a:r>
            <a:endParaRPr lang="en-US" sz="1150" dirty="0"/>
          </a:p>
        </p:txBody>
      </p:sp>
      <p:sp>
        <p:nvSpPr>
          <p:cNvPr id="26" name="Shape 21"/>
          <p:cNvSpPr/>
          <p:nvPr/>
        </p:nvSpPr>
        <p:spPr>
          <a:xfrm>
            <a:off x="640080" y="3931920"/>
            <a:ext cx="3393338" cy="201168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7" name="Shape 22"/>
          <p:cNvSpPr/>
          <p:nvPr/>
        </p:nvSpPr>
        <p:spPr>
          <a:xfrm>
            <a:off x="640080" y="3931920"/>
            <a:ext cx="54864" cy="2011680"/>
          </a:xfrm>
          <a:prstGeom prst="rect">
            <a:avLst/>
          </a:prstGeom>
          <a:solidFill>
            <a:srgbClr val="A371F7"/>
          </a:solidFill>
          <a:ln/>
        </p:spPr>
      </p:sp>
      <p:pic>
        <p:nvPicPr>
          <p:cNvPr id="28" name="Image 3" descr="preencoded.png">    </p:cNvPr>
          <p:cNvPicPr>
            <a:picLocks noChangeAspect="1"/>
          </p:cNvPicPr>
          <p:nvPr/>
        </p:nvPicPr>
        <p:blipFill>
          <a:blip r:embed="rId4"/>
          <a:stretch>
            <a:fillRect/>
          </a:stretch>
        </p:blipFill>
        <p:spPr>
          <a:xfrm>
            <a:off x="914400" y="4187952"/>
            <a:ext cx="329184" cy="329184"/>
          </a:xfrm>
          <a:prstGeom prst="rect">
            <a:avLst/>
          </a:prstGeom>
        </p:spPr>
      </p:pic>
      <p:sp>
        <p:nvSpPr>
          <p:cNvPr id="29" name="Text 23"/>
          <p:cNvSpPr/>
          <p:nvPr/>
        </p:nvSpPr>
        <p:spPr>
          <a:xfrm>
            <a:off x="3027578" y="4114800"/>
            <a:ext cx="731520" cy="365760"/>
          </a:xfrm>
          <a:prstGeom prst="rect">
            <a:avLst/>
          </a:prstGeom>
          <a:noFill/>
          <a:ln/>
        </p:spPr>
        <p:txBody>
          <a:bodyPr wrap="square" lIns="0" tIns="0" rIns="0" bIns="0" rtlCol="0" anchor="ctr"/>
          <a:lstStyle/>
          <a:p>
            <a:pPr algn="r" indent="0" marL="0">
              <a:buNone/>
            </a:pPr>
            <a:r>
              <a:rPr lang="en-US" sz="2100" b="1" dirty="0">
                <a:solidFill>
                  <a:srgbClr val="30363D"/>
                </a:solidFill>
                <a:latin typeface="Consolas" pitchFamily="34" charset="0"/>
                <a:ea typeface="Consolas" pitchFamily="34" charset="-122"/>
                <a:cs typeface="Consolas" pitchFamily="34" charset="-120"/>
              </a:rPr>
              <a:t>04</a:t>
            </a:r>
            <a:endParaRPr lang="en-US" sz="2100" dirty="0"/>
          </a:p>
        </p:txBody>
      </p:sp>
      <p:sp>
        <p:nvSpPr>
          <p:cNvPr id="30" name="Text 24"/>
          <p:cNvSpPr/>
          <p:nvPr/>
        </p:nvSpPr>
        <p:spPr>
          <a:xfrm>
            <a:off x="2753258" y="4498848"/>
            <a:ext cx="1005840" cy="219456"/>
          </a:xfrm>
          <a:prstGeom prst="rect">
            <a:avLst/>
          </a:prstGeom>
          <a:noFill/>
          <a:ln/>
        </p:spPr>
        <p:txBody>
          <a:bodyPr wrap="square" lIns="0" tIns="0" rIns="0" bIns="0" rtlCol="0" anchor="ctr"/>
          <a:lstStyle/>
          <a:p>
            <a:pPr algn="r" indent="0" marL="0">
              <a:buNone/>
            </a:pPr>
            <a:r>
              <a:rPr lang="en-US" sz="900" b="1" dirty="0">
                <a:solidFill>
                  <a:srgbClr val="A371F7"/>
                </a:solidFill>
                <a:latin typeface="Consolas" pitchFamily="34" charset="0"/>
                <a:ea typeface="Consolas" pitchFamily="34" charset="-122"/>
                <a:cs typeface="Consolas" pitchFamily="34" charset="-120"/>
              </a:rPr>
              <a:t>AUG 19</a:t>
            </a:r>
            <a:endParaRPr lang="en-US" sz="900" dirty="0"/>
          </a:p>
        </p:txBody>
      </p:sp>
      <p:sp>
        <p:nvSpPr>
          <p:cNvPr id="31" name="Text 25"/>
          <p:cNvSpPr/>
          <p:nvPr/>
        </p:nvSpPr>
        <p:spPr>
          <a:xfrm>
            <a:off x="914400" y="4645152"/>
            <a:ext cx="2844698" cy="548640"/>
          </a:xfrm>
          <a:prstGeom prst="rect">
            <a:avLst/>
          </a:prstGeom>
          <a:noFill/>
          <a:ln/>
        </p:spPr>
        <p:txBody>
          <a:bodyPr wrap="square" lIns="0" tIns="0" rIns="0" bIns="0" rtlCol="0" anchor="b"/>
          <a:lstStyle/>
          <a:p>
            <a:pPr indent="0" marL="0">
              <a:lnSpc>
                <a:spcPts val="2000"/>
              </a:lnSpc>
              <a:buNone/>
            </a:pPr>
            <a:r>
              <a:rPr lang="en-US" sz="1500" b="1" dirty="0">
                <a:solidFill>
                  <a:srgbClr val="E6EDF3"/>
                </a:solidFill>
                <a:latin typeface="Trebuchet MS" pitchFamily="34" charset="0"/>
                <a:ea typeface="Trebuchet MS" pitchFamily="34" charset="-122"/>
                <a:cs typeface="Trebuchet MS" pitchFamily="34" charset="-120"/>
              </a:rPr>
              <a:t>CodeQL 2.26.3</a:t>
            </a:r>
            <a:endParaRPr lang="en-US" sz="1500" dirty="0"/>
          </a:p>
        </p:txBody>
      </p:sp>
      <p:sp>
        <p:nvSpPr>
          <p:cNvPr id="32" name="Text 26"/>
          <p:cNvSpPr/>
          <p:nvPr/>
        </p:nvSpPr>
        <p:spPr>
          <a:xfrm>
            <a:off x="914400" y="5230368"/>
            <a:ext cx="2844698" cy="585216"/>
          </a:xfrm>
          <a:prstGeom prst="rect">
            <a:avLst/>
          </a:prstGeom>
          <a:noFill/>
          <a:ln/>
        </p:spPr>
        <p:txBody>
          <a:bodyPr wrap="square" lIns="0" tIns="0" rIns="0" bIns="0" rtlCol="0" anchor="t"/>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Sharper Actions queries, fewer false positives, one breaking change.</a:t>
            </a:r>
            <a:endParaRPr lang="en-US" sz="1150" dirty="0"/>
          </a:p>
        </p:txBody>
      </p:sp>
      <p:sp>
        <p:nvSpPr>
          <p:cNvPr id="33" name="Shape 27"/>
          <p:cNvSpPr/>
          <p:nvPr/>
        </p:nvSpPr>
        <p:spPr>
          <a:xfrm>
            <a:off x="4399178" y="3931920"/>
            <a:ext cx="3393338" cy="201168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34" name="Shape 28"/>
          <p:cNvSpPr/>
          <p:nvPr/>
        </p:nvSpPr>
        <p:spPr>
          <a:xfrm>
            <a:off x="4399178" y="3931920"/>
            <a:ext cx="54864" cy="2011680"/>
          </a:xfrm>
          <a:prstGeom prst="rect">
            <a:avLst/>
          </a:prstGeom>
          <a:solidFill>
            <a:srgbClr val="3FB950"/>
          </a:solidFill>
          <a:ln/>
        </p:spPr>
      </p:sp>
      <p:pic>
        <p:nvPicPr>
          <p:cNvPr id="35" name="Image 4" descr="preencoded.png">    </p:cNvPr>
          <p:cNvPicPr>
            <a:picLocks noChangeAspect="1"/>
          </p:cNvPicPr>
          <p:nvPr/>
        </p:nvPicPr>
        <p:blipFill>
          <a:blip r:embed="rId5"/>
          <a:stretch>
            <a:fillRect/>
          </a:stretch>
        </p:blipFill>
        <p:spPr>
          <a:xfrm>
            <a:off x="4673498" y="4187952"/>
            <a:ext cx="329184" cy="329184"/>
          </a:xfrm>
          <a:prstGeom prst="rect">
            <a:avLst/>
          </a:prstGeom>
        </p:spPr>
      </p:pic>
      <p:sp>
        <p:nvSpPr>
          <p:cNvPr id="36" name="Text 29"/>
          <p:cNvSpPr/>
          <p:nvPr/>
        </p:nvSpPr>
        <p:spPr>
          <a:xfrm>
            <a:off x="6786677" y="4114800"/>
            <a:ext cx="731520" cy="365760"/>
          </a:xfrm>
          <a:prstGeom prst="rect">
            <a:avLst/>
          </a:prstGeom>
          <a:noFill/>
          <a:ln/>
        </p:spPr>
        <p:txBody>
          <a:bodyPr wrap="square" lIns="0" tIns="0" rIns="0" bIns="0" rtlCol="0" anchor="ctr"/>
          <a:lstStyle/>
          <a:p>
            <a:pPr algn="r" indent="0" marL="0">
              <a:buNone/>
            </a:pPr>
            <a:r>
              <a:rPr lang="en-US" sz="2100" b="1" dirty="0">
                <a:solidFill>
                  <a:srgbClr val="30363D"/>
                </a:solidFill>
                <a:latin typeface="Consolas" pitchFamily="34" charset="0"/>
                <a:ea typeface="Consolas" pitchFamily="34" charset="-122"/>
                <a:cs typeface="Consolas" pitchFamily="34" charset="-120"/>
              </a:rPr>
              <a:t>05</a:t>
            </a:r>
            <a:endParaRPr lang="en-US" sz="2100" dirty="0"/>
          </a:p>
        </p:txBody>
      </p:sp>
      <p:sp>
        <p:nvSpPr>
          <p:cNvPr id="37" name="Text 30"/>
          <p:cNvSpPr/>
          <p:nvPr/>
        </p:nvSpPr>
        <p:spPr>
          <a:xfrm>
            <a:off x="6512357" y="4498848"/>
            <a:ext cx="1005840" cy="219456"/>
          </a:xfrm>
          <a:prstGeom prst="rect">
            <a:avLst/>
          </a:prstGeom>
          <a:noFill/>
          <a:ln/>
        </p:spPr>
        <p:txBody>
          <a:bodyPr wrap="square" lIns="0" tIns="0" rIns="0" bIns="0" rtlCol="0" anchor="ctr"/>
          <a:lstStyle/>
          <a:p>
            <a:pPr algn="r" indent="0" marL="0">
              <a:buNone/>
            </a:pPr>
            <a:r>
              <a:rPr lang="en-US" sz="900" b="1" dirty="0">
                <a:solidFill>
                  <a:srgbClr val="3FB950"/>
                </a:solidFill>
                <a:latin typeface="Consolas" pitchFamily="34" charset="0"/>
                <a:ea typeface="Consolas" pitchFamily="34" charset="-122"/>
                <a:cs typeface="Consolas" pitchFamily="34" charset="-120"/>
              </a:rPr>
              <a:t>AUG 4</a:t>
            </a:r>
            <a:endParaRPr lang="en-US" sz="900" dirty="0"/>
          </a:p>
        </p:txBody>
      </p:sp>
      <p:sp>
        <p:nvSpPr>
          <p:cNvPr id="38" name="Text 31"/>
          <p:cNvSpPr/>
          <p:nvPr/>
        </p:nvSpPr>
        <p:spPr>
          <a:xfrm>
            <a:off x="4673498" y="4645152"/>
            <a:ext cx="2844698" cy="548640"/>
          </a:xfrm>
          <a:prstGeom prst="rect">
            <a:avLst/>
          </a:prstGeom>
          <a:noFill/>
          <a:ln/>
        </p:spPr>
        <p:txBody>
          <a:bodyPr wrap="square" lIns="0" tIns="0" rIns="0" bIns="0" rtlCol="0" anchor="b"/>
          <a:lstStyle/>
          <a:p>
            <a:pPr indent="0" marL="0">
              <a:lnSpc>
                <a:spcPts val="2000"/>
              </a:lnSpc>
              <a:buNone/>
            </a:pPr>
            <a:r>
              <a:rPr lang="en-US" sz="1500" b="1" dirty="0">
                <a:solidFill>
                  <a:srgbClr val="E6EDF3"/>
                </a:solidFill>
                <a:latin typeface="Trebuchet MS" pitchFamily="34" charset="0"/>
                <a:ea typeface="Trebuchet MS" pitchFamily="34" charset="-122"/>
                <a:cs typeface="Trebuchet MS" pitchFamily="34" charset="-120"/>
              </a:rPr>
              <a:t>AI-generated coverage workflow</a:t>
            </a:r>
            <a:endParaRPr lang="en-US" sz="1500" dirty="0"/>
          </a:p>
        </p:txBody>
      </p:sp>
      <p:sp>
        <p:nvSpPr>
          <p:cNvPr id="39" name="Text 32"/>
          <p:cNvSpPr/>
          <p:nvPr/>
        </p:nvSpPr>
        <p:spPr>
          <a:xfrm>
            <a:off x="4673498" y="5230368"/>
            <a:ext cx="2844698" cy="585216"/>
          </a:xfrm>
          <a:prstGeom prst="rect">
            <a:avLst/>
          </a:prstGeom>
          <a:noFill/>
          <a:ln/>
        </p:spPr>
        <p:txBody>
          <a:bodyPr wrap="square" lIns="0" tIns="0" rIns="0" bIns="0" rtlCol="0" anchor="t"/>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GitHub writes the workflow and opens a pull request for you to review.</a:t>
            </a:r>
            <a:endParaRPr lang="en-US" sz="1150" dirty="0"/>
          </a:p>
        </p:txBody>
      </p:sp>
      <p:sp>
        <p:nvSpPr>
          <p:cNvPr id="40" name="Shape 33"/>
          <p:cNvSpPr/>
          <p:nvPr/>
        </p:nvSpPr>
        <p:spPr>
          <a:xfrm>
            <a:off x="8158277" y="3931920"/>
            <a:ext cx="3393338" cy="201168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41" name="Shape 34"/>
          <p:cNvSpPr/>
          <p:nvPr/>
        </p:nvSpPr>
        <p:spPr>
          <a:xfrm>
            <a:off x="8158277" y="3931920"/>
            <a:ext cx="54864" cy="2011680"/>
          </a:xfrm>
          <a:prstGeom prst="rect">
            <a:avLst/>
          </a:prstGeom>
          <a:solidFill>
            <a:srgbClr val="2F81F7"/>
          </a:solidFill>
          <a:ln/>
        </p:spPr>
      </p:sp>
      <p:pic>
        <p:nvPicPr>
          <p:cNvPr id="42" name="Image 5" descr="preencoded.png">    </p:cNvPr>
          <p:cNvPicPr>
            <a:picLocks noChangeAspect="1"/>
          </p:cNvPicPr>
          <p:nvPr/>
        </p:nvPicPr>
        <p:blipFill>
          <a:blip r:embed="rId6"/>
          <a:stretch>
            <a:fillRect/>
          </a:stretch>
        </p:blipFill>
        <p:spPr>
          <a:xfrm>
            <a:off x="8432597" y="4187952"/>
            <a:ext cx="329184" cy="329184"/>
          </a:xfrm>
          <a:prstGeom prst="rect">
            <a:avLst/>
          </a:prstGeom>
        </p:spPr>
      </p:pic>
      <p:sp>
        <p:nvSpPr>
          <p:cNvPr id="43" name="Text 35"/>
          <p:cNvSpPr/>
          <p:nvPr/>
        </p:nvSpPr>
        <p:spPr>
          <a:xfrm>
            <a:off x="10545775" y="4114800"/>
            <a:ext cx="731520" cy="365760"/>
          </a:xfrm>
          <a:prstGeom prst="rect">
            <a:avLst/>
          </a:prstGeom>
          <a:noFill/>
          <a:ln/>
        </p:spPr>
        <p:txBody>
          <a:bodyPr wrap="square" lIns="0" tIns="0" rIns="0" bIns="0" rtlCol="0" anchor="ctr"/>
          <a:lstStyle/>
          <a:p>
            <a:pPr algn="r" indent="0" marL="0">
              <a:buNone/>
            </a:pPr>
            <a:r>
              <a:rPr lang="en-US" sz="2100" b="1" dirty="0">
                <a:solidFill>
                  <a:srgbClr val="30363D"/>
                </a:solidFill>
                <a:latin typeface="Consolas" pitchFamily="34" charset="0"/>
                <a:ea typeface="Consolas" pitchFamily="34" charset="-122"/>
                <a:cs typeface="Consolas" pitchFamily="34" charset="-120"/>
              </a:rPr>
              <a:t>06</a:t>
            </a:r>
            <a:endParaRPr lang="en-US" sz="2100" dirty="0"/>
          </a:p>
        </p:txBody>
      </p:sp>
      <p:sp>
        <p:nvSpPr>
          <p:cNvPr id="44" name="Text 36"/>
          <p:cNvSpPr/>
          <p:nvPr/>
        </p:nvSpPr>
        <p:spPr>
          <a:xfrm>
            <a:off x="10271455" y="4498848"/>
            <a:ext cx="1005840" cy="219456"/>
          </a:xfrm>
          <a:prstGeom prst="rect">
            <a:avLst/>
          </a:prstGeom>
          <a:noFill/>
          <a:ln/>
        </p:spPr>
        <p:txBody>
          <a:bodyPr wrap="square" lIns="0" tIns="0" rIns="0" bIns="0" rtlCol="0" anchor="ctr"/>
          <a:lstStyle/>
          <a:p>
            <a:pPr algn="r" indent="0" marL="0">
              <a:buNone/>
            </a:pPr>
            <a:r>
              <a:rPr lang="en-US" sz="900" b="1" dirty="0">
                <a:solidFill>
                  <a:srgbClr val="2F81F7"/>
                </a:solidFill>
                <a:latin typeface="Consolas" pitchFamily="34" charset="0"/>
                <a:ea typeface="Consolas" pitchFamily="34" charset="-122"/>
                <a:cs typeface="Consolas" pitchFamily="34" charset="-120"/>
              </a:rPr>
              <a:t>JUN 25</a:t>
            </a:r>
            <a:endParaRPr lang="en-US" sz="900" dirty="0"/>
          </a:p>
        </p:txBody>
      </p:sp>
      <p:sp>
        <p:nvSpPr>
          <p:cNvPr id="45" name="Text 37"/>
          <p:cNvSpPr/>
          <p:nvPr/>
        </p:nvSpPr>
        <p:spPr>
          <a:xfrm>
            <a:off x="8432597" y="4645152"/>
            <a:ext cx="2844698" cy="548640"/>
          </a:xfrm>
          <a:prstGeom prst="rect">
            <a:avLst/>
          </a:prstGeom>
          <a:noFill/>
          <a:ln/>
        </p:spPr>
        <p:txBody>
          <a:bodyPr wrap="square" lIns="0" tIns="0" rIns="0" bIns="0" rtlCol="0" anchor="b"/>
          <a:lstStyle/>
          <a:p>
            <a:pPr indent="0" marL="0">
              <a:lnSpc>
                <a:spcPts val="2000"/>
              </a:lnSpc>
              <a:buNone/>
            </a:pPr>
            <a:r>
              <a:rPr lang="en-US" sz="1500" b="1" dirty="0">
                <a:solidFill>
                  <a:srgbClr val="E6EDF3"/>
                </a:solidFill>
                <a:latin typeface="Trebuchet MS" pitchFamily="34" charset="0"/>
                <a:ea typeface="Trebuchet MS" pitchFamily="34" charset="-122"/>
                <a:cs typeface="Trebuchet MS" pitchFamily="34" charset="-120"/>
              </a:rPr>
              <a:t>More control over hosted runners</a:t>
            </a:r>
            <a:endParaRPr lang="en-US" sz="1500" dirty="0"/>
          </a:p>
        </p:txBody>
      </p:sp>
      <p:sp>
        <p:nvSpPr>
          <p:cNvPr id="46" name="Text 38"/>
          <p:cNvSpPr/>
          <p:nvPr/>
        </p:nvSpPr>
        <p:spPr>
          <a:xfrm>
            <a:off x="8432597" y="5230368"/>
            <a:ext cx="2844698" cy="585216"/>
          </a:xfrm>
          <a:prstGeom prst="rect">
            <a:avLst/>
          </a:prstGeom>
          <a:noFill/>
          <a:ln/>
        </p:spPr>
        <p:txBody>
          <a:bodyPr wrap="square" lIns="0" tIns="0" rIns="0" bIns="0" rtlCol="0" anchor="t"/>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macOS joins runner groups, and you can switch off ubuntu-latest.</a:t>
            </a:r>
            <a:endParaRPr lang="en-US" sz="1150" dirty="0"/>
          </a:p>
        </p:txBody>
      </p:sp>
      <p:sp>
        <p:nvSpPr>
          <p:cNvPr id="47" name="Text 39"/>
          <p:cNvSpPr/>
          <p:nvPr/>
        </p:nvSpPr>
        <p:spPr>
          <a:xfrm>
            <a:off x="640080" y="6309360"/>
            <a:ext cx="6949440" cy="274320"/>
          </a:xfrm>
          <a:prstGeom prst="rect">
            <a:avLst/>
          </a:prstGeom>
          <a:noFill/>
          <a:ln/>
        </p:spPr>
        <p:txBody>
          <a:bodyPr wrap="square" lIns="0" tIns="0" rIns="0" bIns="0" rtlCol="0" anchor="ctr"/>
          <a:lstStyle/>
          <a:p>
            <a:pPr indent="0" marL="0">
              <a:buNone/>
            </a:pPr>
            <a:r>
              <a:rPr lang="en-US" sz="900" dirty="0">
                <a:solidFill>
                  <a:srgbClr val="8B949E"/>
                </a:solidFill>
                <a:latin typeface="Consolas" pitchFamily="34" charset="0"/>
                <a:ea typeface="Consolas" pitchFamily="34" charset="-122"/>
                <a:cs typeface="Consolas" pitchFamily="34" charset="-120"/>
              </a:rPr>
              <a:t>Every item published on github.blog/changelog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640080" y="475488"/>
            <a:ext cx="50292" cy="219456"/>
          </a:xfrm>
          <a:prstGeom prst="rect">
            <a:avLst/>
          </a:prstGeom>
          <a:solidFill>
            <a:srgbClr val="F0883E"/>
          </a:solidFill>
          <a:ln/>
        </p:spPr>
      </p:sp>
      <p:sp>
        <p:nvSpPr>
          <p:cNvPr id="3" name="Text 1"/>
          <p:cNvSpPr/>
          <p:nvPr/>
        </p:nvSpPr>
        <p:spPr>
          <a:xfrm>
            <a:off x="786384" y="438912"/>
            <a:ext cx="7772400" cy="292608"/>
          </a:xfrm>
          <a:prstGeom prst="rect">
            <a:avLst/>
          </a:prstGeom>
          <a:noFill/>
          <a:ln/>
        </p:spPr>
        <p:txBody>
          <a:bodyPr wrap="square" lIns="0" tIns="0" rIns="0" bIns="0" rtlCol="0" anchor="ctr"/>
          <a:lstStyle/>
          <a:p>
            <a:pPr indent="0" marL="0">
              <a:buNone/>
            </a:pPr>
            <a:r>
              <a:rPr lang="en-US" sz="1050" b="1" spc="140" kern="0" dirty="0">
                <a:solidFill>
                  <a:srgbClr val="F0883E"/>
                </a:solidFill>
                <a:latin typeface="Consolas" pitchFamily="34" charset="0"/>
                <a:ea typeface="Consolas" pitchFamily="34" charset="-122"/>
                <a:cs typeface="Consolas" pitchFamily="34" charset="-120"/>
              </a:rPr>
              <a:t>TIME-SENSITIVE</a:t>
            </a:r>
            <a:endParaRPr lang="en-US" sz="1050" dirty="0"/>
          </a:p>
        </p:txBody>
      </p:sp>
      <p:sp>
        <p:nvSpPr>
          <p:cNvPr id="4" name="Text 2"/>
          <p:cNvSpPr/>
          <p:nvPr/>
        </p:nvSpPr>
        <p:spPr>
          <a:xfrm>
            <a:off x="640080" y="786384"/>
            <a:ext cx="10911535" cy="713232"/>
          </a:xfrm>
          <a:prstGeom prst="rect">
            <a:avLst/>
          </a:prstGeom>
          <a:noFill/>
          <a:ln/>
        </p:spPr>
        <p:txBody>
          <a:bodyPr wrap="square" lIns="0" tIns="0" rIns="0" bIns="0" rtlCol="0" anchor="ctr"/>
          <a:lstStyle/>
          <a:p>
            <a:pPr indent="0" marL="0">
              <a:buNone/>
            </a:pPr>
            <a:r>
              <a:rPr lang="en-US" sz="3300" b="1" dirty="0">
                <a:solidFill>
                  <a:srgbClr val="E6EDF3"/>
                </a:solidFill>
                <a:latin typeface="Trebuchet MS" pitchFamily="34" charset="0"/>
                <a:ea typeface="Trebuchet MS" pitchFamily="34" charset="-122"/>
                <a:cs typeface="Trebuchet MS" pitchFamily="34" charset="-120"/>
              </a:rPr>
              <a:t>Two dates that need action</a:t>
            </a:r>
            <a:endParaRPr lang="en-US" sz="3300" dirty="0"/>
          </a:p>
        </p:txBody>
      </p:sp>
      <p:sp>
        <p:nvSpPr>
          <p:cNvPr id="5" name="Shape 3"/>
          <p:cNvSpPr/>
          <p:nvPr/>
        </p:nvSpPr>
        <p:spPr>
          <a:xfrm>
            <a:off x="1463040" y="2724912"/>
            <a:ext cx="9262872" cy="45720"/>
          </a:xfrm>
          <a:prstGeom prst="rect">
            <a:avLst/>
          </a:prstGeom>
          <a:solidFill>
            <a:srgbClr val="30363D"/>
          </a:solidFill>
          <a:ln/>
        </p:spPr>
      </p:sp>
      <p:sp>
        <p:nvSpPr>
          <p:cNvPr id="6" name="Shape 4"/>
          <p:cNvSpPr/>
          <p:nvPr/>
        </p:nvSpPr>
        <p:spPr>
          <a:xfrm>
            <a:off x="2048256" y="2601468"/>
            <a:ext cx="292608" cy="292608"/>
          </a:xfrm>
          <a:prstGeom prst="ellipse">
            <a:avLst/>
          </a:prstGeom>
          <a:solidFill>
            <a:srgbClr val="0D1117"/>
          </a:solidFill>
          <a:ln w="31750">
            <a:solidFill>
              <a:srgbClr val="3FB950"/>
            </a:solidFill>
            <a:prstDash val="solid"/>
          </a:ln>
        </p:spPr>
      </p:sp>
      <p:sp>
        <p:nvSpPr>
          <p:cNvPr id="7" name="Text 5"/>
          <p:cNvSpPr/>
          <p:nvPr/>
        </p:nvSpPr>
        <p:spPr>
          <a:xfrm>
            <a:off x="685800" y="2103120"/>
            <a:ext cx="3017520" cy="292608"/>
          </a:xfrm>
          <a:prstGeom prst="rect">
            <a:avLst/>
          </a:prstGeom>
          <a:noFill/>
          <a:ln/>
        </p:spPr>
        <p:txBody>
          <a:bodyPr wrap="square" lIns="0" tIns="0" rIns="0" bIns="0" rtlCol="0" anchor="ctr"/>
          <a:lstStyle/>
          <a:p>
            <a:pPr algn="ctr" indent="0" marL="0">
              <a:buNone/>
            </a:pPr>
            <a:r>
              <a:rPr lang="en-US" sz="1250" b="1" dirty="0">
                <a:solidFill>
                  <a:srgbClr val="3FB950"/>
                </a:solidFill>
                <a:latin typeface="Consolas" pitchFamily="34" charset="0"/>
                <a:ea typeface="Consolas" pitchFamily="34" charset="-122"/>
                <a:cs typeface="Consolas" pitchFamily="34" charset="-120"/>
              </a:rPr>
              <a:t>SEP 8</a:t>
            </a:r>
            <a:endParaRPr lang="en-US" sz="1250" dirty="0"/>
          </a:p>
        </p:txBody>
      </p:sp>
      <p:sp>
        <p:nvSpPr>
          <p:cNvPr id="8" name="Text 6"/>
          <p:cNvSpPr/>
          <p:nvPr/>
        </p:nvSpPr>
        <p:spPr>
          <a:xfrm>
            <a:off x="685800" y="3054096"/>
            <a:ext cx="3017520" cy="566928"/>
          </a:xfrm>
          <a:prstGeom prst="rect">
            <a:avLst/>
          </a:prstGeom>
          <a:noFill/>
          <a:ln/>
        </p:spPr>
        <p:txBody>
          <a:bodyPr wrap="square" lIns="0" tIns="0" rIns="0" bIns="0" rtlCol="0" anchor="b"/>
          <a:lstStyle/>
          <a:p>
            <a:pPr algn="ctr" indent="0" marL="0">
              <a:lnSpc>
                <a:spcPts val="2000"/>
              </a:lnSpc>
              <a:buNone/>
            </a:pPr>
            <a:r>
              <a:rPr lang="en-US" sz="1500" b="1" dirty="0">
                <a:solidFill>
                  <a:srgbClr val="E6EDF3"/>
                </a:solidFill>
                <a:latin typeface="Trebuchet MS" pitchFamily="34" charset="0"/>
                <a:ea typeface="Trebuchet MS" pitchFamily="34" charset="-122"/>
                <a:cs typeface="Trebuchet MS" pitchFamily="34" charset="-120"/>
              </a:rPr>
              <a:t>Today</a:t>
            </a:r>
            <a:endParaRPr lang="en-US" sz="1500" dirty="0"/>
          </a:p>
        </p:txBody>
      </p:sp>
      <p:sp>
        <p:nvSpPr>
          <p:cNvPr id="9" name="Text 7"/>
          <p:cNvSpPr/>
          <p:nvPr/>
        </p:nvSpPr>
        <p:spPr>
          <a:xfrm>
            <a:off x="685800" y="3675888"/>
            <a:ext cx="3017520" cy="914400"/>
          </a:xfrm>
          <a:prstGeom prst="rect">
            <a:avLst/>
          </a:prstGeom>
          <a:noFill/>
          <a:ln/>
        </p:spPr>
        <p:txBody>
          <a:bodyPr wrap="square" lIns="0" tIns="0" rIns="0" bIns="0" rtlCol="0" anchor="t"/>
          <a:lstStyle/>
          <a:p>
            <a:pPr algn="ctr" indent="0" marL="0">
              <a:lnSpc>
                <a:spcPts val="1600"/>
              </a:lnSpc>
              <a:buNone/>
            </a:pPr>
            <a:r>
              <a:rPr lang="en-US" sz="1200" dirty="0">
                <a:solidFill>
                  <a:srgbClr val="8B949E"/>
                </a:solidFill>
                <a:latin typeface="Calibri" pitchFamily="34" charset="0"/>
                <a:ea typeface="Calibri" pitchFamily="34" charset="-122"/>
                <a:cs typeface="Calibri" pitchFamily="34" charset="-120"/>
              </a:rPr>
              <a:t>We are here. Everything below still needs doing.</a:t>
            </a:r>
            <a:endParaRPr lang="en-US" sz="1200" dirty="0"/>
          </a:p>
        </p:txBody>
      </p:sp>
      <p:sp>
        <p:nvSpPr>
          <p:cNvPr id="10" name="Shape 8"/>
          <p:cNvSpPr/>
          <p:nvPr/>
        </p:nvSpPr>
        <p:spPr>
          <a:xfrm>
            <a:off x="5952744" y="2601468"/>
            <a:ext cx="292608" cy="292608"/>
          </a:xfrm>
          <a:prstGeom prst="ellipse">
            <a:avLst/>
          </a:prstGeom>
          <a:solidFill>
            <a:srgbClr val="F0883E"/>
          </a:solidFill>
          <a:ln w="31750">
            <a:solidFill>
              <a:srgbClr val="F0883E"/>
            </a:solidFill>
            <a:prstDash val="solid"/>
          </a:ln>
        </p:spPr>
      </p:sp>
      <p:sp>
        <p:nvSpPr>
          <p:cNvPr id="11" name="Text 9"/>
          <p:cNvSpPr/>
          <p:nvPr/>
        </p:nvSpPr>
        <p:spPr>
          <a:xfrm>
            <a:off x="4590288" y="2103120"/>
            <a:ext cx="3017520" cy="292608"/>
          </a:xfrm>
          <a:prstGeom prst="rect">
            <a:avLst/>
          </a:prstGeom>
          <a:noFill/>
          <a:ln/>
        </p:spPr>
        <p:txBody>
          <a:bodyPr wrap="square" lIns="0" tIns="0" rIns="0" bIns="0" rtlCol="0" anchor="ctr"/>
          <a:lstStyle/>
          <a:p>
            <a:pPr algn="ctr" indent="0" marL="0">
              <a:buNone/>
            </a:pPr>
            <a:r>
              <a:rPr lang="en-US" sz="1250" b="1" dirty="0">
                <a:solidFill>
                  <a:srgbClr val="F0883E"/>
                </a:solidFill>
                <a:latin typeface="Consolas" pitchFamily="34" charset="0"/>
                <a:ea typeface="Consolas" pitchFamily="34" charset="-122"/>
                <a:cs typeface="Consolas" pitchFamily="34" charset="-120"/>
              </a:rPr>
              <a:t>SEP 21 - 30</a:t>
            </a:r>
            <a:endParaRPr lang="en-US" sz="1250" dirty="0"/>
          </a:p>
        </p:txBody>
      </p:sp>
      <p:sp>
        <p:nvSpPr>
          <p:cNvPr id="12" name="Text 10"/>
          <p:cNvSpPr/>
          <p:nvPr/>
        </p:nvSpPr>
        <p:spPr>
          <a:xfrm>
            <a:off x="4590288" y="3054096"/>
            <a:ext cx="3017520" cy="566928"/>
          </a:xfrm>
          <a:prstGeom prst="rect">
            <a:avLst/>
          </a:prstGeom>
          <a:noFill/>
          <a:ln/>
        </p:spPr>
        <p:txBody>
          <a:bodyPr wrap="square" lIns="0" tIns="0" rIns="0" bIns="0" rtlCol="0" anchor="b"/>
          <a:lstStyle/>
          <a:p>
            <a:pPr algn="ctr" indent="0" marL="0">
              <a:lnSpc>
                <a:spcPts val="2000"/>
              </a:lnSpc>
              <a:buNone/>
            </a:pPr>
            <a:r>
              <a:rPr lang="en-US" sz="1500" b="1" dirty="0">
                <a:solidFill>
                  <a:srgbClr val="E6EDF3"/>
                </a:solidFill>
                <a:latin typeface="Trebuchet MS" pitchFamily="34" charset="0"/>
                <a:ea typeface="Trebuchet MS" pitchFamily="34" charset="-122"/>
                <a:cs typeface="Trebuchet MS" pitchFamily="34" charset="-120"/>
              </a:rPr>
              <a:t>windows-11-arm moves to VS2026</a:t>
            </a:r>
            <a:endParaRPr lang="en-US" sz="1500" dirty="0"/>
          </a:p>
        </p:txBody>
      </p:sp>
      <p:sp>
        <p:nvSpPr>
          <p:cNvPr id="13" name="Text 11"/>
          <p:cNvSpPr/>
          <p:nvPr/>
        </p:nvSpPr>
        <p:spPr>
          <a:xfrm>
            <a:off x="4590288" y="3675888"/>
            <a:ext cx="3017520" cy="914400"/>
          </a:xfrm>
          <a:prstGeom prst="rect">
            <a:avLst/>
          </a:prstGeom>
          <a:noFill/>
          <a:ln/>
        </p:spPr>
        <p:txBody>
          <a:bodyPr wrap="square" lIns="0" tIns="0" rIns="0" bIns="0" rtlCol="0" anchor="t"/>
          <a:lstStyle/>
          <a:p>
            <a:pPr algn="ctr" indent="0" marL="0">
              <a:lnSpc>
                <a:spcPts val="1600"/>
              </a:lnSpc>
              <a:buNone/>
            </a:pPr>
            <a:r>
              <a:rPr lang="en-US" sz="1200" dirty="0">
                <a:solidFill>
                  <a:srgbClr val="8B949E"/>
                </a:solidFill>
                <a:latin typeface="Calibri" pitchFamily="34" charset="0"/>
                <a:ea typeface="Calibri" pitchFamily="34" charset="-122"/>
                <a:cs typeface="Calibri" pitchFamily="34" charset="-120"/>
              </a:rPr>
              <a:t>The rollout starts Sep 21 and completes Sep 30. Jobs that rely on Visual Studio 2022 may break.</a:t>
            </a:r>
            <a:endParaRPr lang="en-US" sz="1200" dirty="0"/>
          </a:p>
        </p:txBody>
      </p:sp>
      <p:sp>
        <p:nvSpPr>
          <p:cNvPr id="14" name="Shape 12"/>
          <p:cNvSpPr/>
          <p:nvPr/>
        </p:nvSpPr>
        <p:spPr>
          <a:xfrm>
            <a:off x="9857232" y="2601468"/>
            <a:ext cx="292608" cy="292608"/>
          </a:xfrm>
          <a:prstGeom prst="ellipse">
            <a:avLst/>
          </a:prstGeom>
          <a:solidFill>
            <a:srgbClr val="F0883E"/>
          </a:solidFill>
          <a:ln w="31750">
            <a:solidFill>
              <a:srgbClr val="F0883E"/>
            </a:solidFill>
            <a:prstDash val="solid"/>
          </a:ln>
        </p:spPr>
      </p:sp>
      <p:sp>
        <p:nvSpPr>
          <p:cNvPr id="15" name="Text 13"/>
          <p:cNvSpPr/>
          <p:nvPr/>
        </p:nvSpPr>
        <p:spPr>
          <a:xfrm>
            <a:off x="8494776" y="2103120"/>
            <a:ext cx="3017520" cy="292608"/>
          </a:xfrm>
          <a:prstGeom prst="rect">
            <a:avLst/>
          </a:prstGeom>
          <a:noFill/>
          <a:ln/>
        </p:spPr>
        <p:txBody>
          <a:bodyPr wrap="square" lIns="0" tIns="0" rIns="0" bIns="0" rtlCol="0" anchor="ctr"/>
          <a:lstStyle/>
          <a:p>
            <a:pPr algn="ctr" indent="0" marL="0">
              <a:buNone/>
            </a:pPr>
            <a:r>
              <a:rPr lang="en-US" sz="1250" b="1" dirty="0">
                <a:solidFill>
                  <a:srgbClr val="F0883E"/>
                </a:solidFill>
                <a:latin typeface="Consolas" pitchFamily="34" charset="0"/>
                <a:ea typeface="Consolas" pitchFamily="34" charset="-122"/>
                <a:cs typeface="Consolas" pitchFamily="34" charset="-120"/>
              </a:rPr>
              <a:t>OCT 1</a:t>
            </a:r>
            <a:endParaRPr lang="en-US" sz="1250" dirty="0"/>
          </a:p>
        </p:txBody>
      </p:sp>
      <p:sp>
        <p:nvSpPr>
          <p:cNvPr id="16" name="Text 14"/>
          <p:cNvSpPr/>
          <p:nvPr/>
        </p:nvSpPr>
        <p:spPr>
          <a:xfrm>
            <a:off x="8494776" y="3054096"/>
            <a:ext cx="3017520" cy="566928"/>
          </a:xfrm>
          <a:prstGeom prst="rect">
            <a:avLst/>
          </a:prstGeom>
          <a:noFill/>
          <a:ln/>
        </p:spPr>
        <p:txBody>
          <a:bodyPr wrap="square" lIns="0" tIns="0" rIns="0" bIns="0" rtlCol="0" anchor="b"/>
          <a:lstStyle/>
          <a:p>
            <a:pPr algn="ctr" indent="0" marL="0">
              <a:lnSpc>
                <a:spcPts val="2000"/>
              </a:lnSpc>
              <a:buNone/>
            </a:pPr>
            <a:r>
              <a:rPr lang="en-US" sz="1500" b="1" dirty="0">
                <a:solidFill>
                  <a:srgbClr val="E6EDF3"/>
                </a:solidFill>
                <a:latin typeface="Trebuchet MS" pitchFamily="34" charset="0"/>
                <a:ea typeface="Trebuchet MS" pitchFamily="34" charset="-122"/>
                <a:cs typeface="Trebuchet MS" pitchFamily="34" charset="-120"/>
              </a:rPr>
              <a:t>Retention applies to checks and runs</a:t>
            </a:r>
            <a:endParaRPr lang="en-US" sz="1500" dirty="0"/>
          </a:p>
        </p:txBody>
      </p:sp>
      <p:sp>
        <p:nvSpPr>
          <p:cNvPr id="17" name="Text 15"/>
          <p:cNvSpPr/>
          <p:nvPr/>
        </p:nvSpPr>
        <p:spPr>
          <a:xfrm>
            <a:off x="8494776" y="3675888"/>
            <a:ext cx="3017520" cy="914400"/>
          </a:xfrm>
          <a:prstGeom prst="rect">
            <a:avLst/>
          </a:prstGeom>
          <a:noFill/>
          <a:ln/>
        </p:spPr>
        <p:txBody>
          <a:bodyPr wrap="square" lIns="0" tIns="0" rIns="0" bIns="0" rtlCol="0" anchor="t"/>
          <a:lstStyle/>
          <a:p>
            <a:pPr algn="ctr" indent="0" marL="0">
              <a:lnSpc>
                <a:spcPts val="1600"/>
              </a:lnSpc>
              <a:buNone/>
            </a:pPr>
            <a:r>
              <a:rPr lang="en-US" sz="1200" dirty="0">
                <a:solidFill>
                  <a:srgbClr val="8B949E"/>
                </a:solidFill>
                <a:latin typeface="Calibri" pitchFamily="34" charset="0"/>
                <a:ea typeface="Calibri" pitchFamily="34" charset="-122"/>
                <a:cs typeface="Calibri" pitchFamily="34" charset="-120"/>
              </a:rPr>
              <a:t>Checks, workflow runs and statuses start following your Actions retention setting.</a:t>
            </a:r>
            <a:endParaRPr lang="en-US" sz="1200" dirty="0"/>
          </a:p>
        </p:txBody>
      </p:sp>
      <p:sp>
        <p:nvSpPr>
          <p:cNvPr id="18" name="Shape 16"/>
          <p:cNvSpPr/>
          <p:nvPr/>
        </p:nvSpPr>
        <p:spPr>
          <a:xfrm>
            <a:off x="640080" y="5029200"/>
            <a:ext cx="5272888" cy="109728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19" name="Shape 17"/>
          <p:cNvSpPr/>
          <p:nvPr/>
        </p:nvSpPr>
        <p:spPr>
          <a:xfrm>
            <a:off x="640080" y="5029200"/>
            <a:ext cx="54864" cy="1097280"/>
          </a:xfrm>
          <a:prstGeom prst="rect">
            <a:avLst/>
          </a:prstGeom>
          <a:solidFill>
            <a:srgbClr val="F0883E"/>
          </a:solidFill>
          <a:ln/>
        </p:spPr>
      </p:sp>
      <p:sp>
        <p:nvSpPr>
          <p:cNvPr id="20" name="Text 18"/>
          <p:cNvSpPr/>
          <p:nvPr/>
        </p:nvSpPr>
        <p:spPr>
          <a:xfrm>
            <a:off x="914400" y="5138928"/>
            <a:ext cx="1097280" cy="877824"/>
          </a:xfrm>
          <a:prstGeom prst="rect">
            <a:avLst/>
          </a:prstGeom>
          <a:noFill/>
          <a:ln/>
        </p:spPr>
        <p:txBody>
          <a:bodyPr wrap="square" lIns="0" tIns="0" rIns="0" bIns="0" rtlCol="0" anchor="ctr"/>
          <a:lstStyle/>
          <a:p>
            <a:pPr indent="0" marL="0">
              <a:buNone/>
            </a:pPr>
            <a:r>
              <a:rPr lang="en-US" sz="4000" b="1" dirty="0">
                <a:solidFill>
                  <a:srgbClr val="F0883E"/>
                </a:solidFill>
                <a:latin typeface="Trebuchet MS" pitchFamily="34" charset="0"/>
                <a:ea typeface="Trebuchet MS" pitchFamily="34" charset="-122"/>
                <a:cs typeface="Trebuchet MS" pitchFamily="34" charset="-120"/>
              </a:rPr>
              <a:t>13</a:t>
            </a:r>
            <a:endParaRPr lang="en-US" sz="4000" dirty="0"/>
          </a:p>
        </p:txBody>
      </p:sp>
      <p:sp>
        <p:nvSpPr>
          <p:cNvPr id="21" name="Text 19"/>
          <p:cNvSpPr/>
          <p:nvPr/>
        </p:nvSpPr>
        <p:spPr>
          <a:xfrm>
            <a:off x="2066544" y="5193792"/>
            <a:ext cx="3572104" cy="768096"/>
          </a:xfrm>
          <a:prstGeom prst="rect">
            <a:avLst/>
          </a:prstGeom>
          <a:noFill/>
          <a:ln/>
        </p:spPr>
        <p:txBody>
          <a:bodyPr wrap="square" lIns="0" tIns="0" rIns="0" bIns="0" rtlCol="0" anchor="ctr"/>
          <a:lstStyle/>
          <a:p>
            <a:pPr indent="0" marL="0">
              <a:lnSpc>
                <a:spcPts val="1700"/>
              </a:lnSpc>
              <a:buNone/>
            </a:pPr>
            <a:r>
              <a:rPr lang="en-US" sz="1250" dirty="0">
                <a:solidFill>
                  <a:srgbClr val="E6EDF3"/>
                </a:solidFill>
                <a:latin typeface="Calibri" pitchFamily="34" charset="0"/>
                <a:ea typeface="Calibri" pitchFamily="34" charset="-122"/>
                <a:cs typeface="Calibri" pitchFamily="34" charset="-120"/>
              </a:rPr>
              <a:t>days after this session before the arm64 image migration begins</a:t>
            </a:r>
            <a:endParaRPr lang="en-US" sz="1250" dirty="0"/>
          </a:p>
        </p:txBody>
      </p:sp>
      <p:sp>
        <p:nvSpPr>
          <p:cNvPr id="22" name="Shape 20"/>
          <p:cNvSpPr/>
          <p:nvPr/>
        </p:nvSpPr>
        <p:spPr>
          <a:xfrm>
            <a:off x="6278728" y="5029200"/>
            <a:ext cx="5272888" cy="109728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3" name="Shape 21"/>
          <p:cNvSpPr/>
          <p:nvPr/>
        </p:nvSpPr>
        <p:spPr>
          <a:xfrm>
            <a:off x="6278728" y="5029200"/>
            <a:ext cx="54864" cy="1097280"/>
          </a:xfrm>
          <a:prstGeom prst="rect">
            <a:avLst/>
          </a:prstGeom>
          <a:solidFill>
            <a:srgbClr val="F0883E"/>
          </a:solidFill>
          <a:ln/>
        </p:spPr>
      </p:sp>
      <p:sp>
        <p:nvSpPr>
          <p:cNvPr id="24" name="Text 22"/>
          <p:cNvSpPr/>
          <p:nvPr/>
        </p:nvSpPr>
        <p:spPr>
          <a:xfrm>
            <a:off x="6553048" y="5138928"/>
            <a:ext cx="1097280" cy="877824"/>
          </a:xfrm>
          <a:prstGeom prst="rect">
            <a:avLst/>
          </a:prstGeom>
          <a:noFill/>
          <a:ln/>
        </p:spPr>
        <p:txBody>
          <a:bodyPr wrap="square" lIns="0" tIns="0" rIns="0" bIns="0" rtlCol="0" anchor="ctr"/>
          <a:lstStyle/>
          <a:p>
            <a:pPr indent="0" marL="0">
              <a:buNone/>
            </a:pPr>
            <a:r>
              <a:rPr lang="en-US" sz="4000" b="1" dirty="0">
                <a:solidFill>
                  <a:srgbClr val="F0883E"/>
                </a:solidFill>
                <a:latin typeface="Trebuchet MS" pitchFamily="34" charset="0"/>
                <a:ea typeface="Trebuchet MS" pitchFamily="34" charset="-122"/>
                <a:cs typeface="Trebuchet MS" pitchFamily="34" charset="-120"/>
              </a:rPr>
              <a:t>23</a:t>
            </a:r>
            <a:endParaRPr lang="en-US" sz="4000" dirty="0"/>
          </a:p>
        </p:txBody>
      </p:sp>
      <p:sp>
        <p:nvSpPr>
          <p:cNvPr id="25" name="Text 23"/>
          <p:cNvSpPr/>
          <p:nvPr/>
        </p:nvSpPr>
        <p:spPr>
          <a:xfrm>
            <a:off x="7705192" y="5193792"/>
            <a:ext cx="3572104" cy="768096"/>
          </a:xfrm>
          <a:prstGeom prst="rect">
            <a:avLst/>
          </a:prstGeom>
          <a:noFill/>
          <a:ln/>
        </p:spPr>
        <p:txBody>
          <a:bodyPr wrap="square" lIns="0" tIns="0" rIns="0" bIns="0" rtlCol="0" anchor="ctr"/>
          <a:lstStyle/>
          <a:p>
            <a:pPr indent="0" marL="0">
              <a:lnSpc>
                <a:spcPts val="1700"/>
              </a:lnSpc>
              <a:buNone/>
            </a:pPr>
            <a:r>
              <a:rPr lang="en-US" sz="1250" dirty="0">
                <a:solidFill>
                  <a:srgbClr val="E6EDF3"/>
                </a:solidFill>
                <a:latin typeface="Calibri" pitchFamily="34" charset="0"/>
                <a:ea typeface="Calibri" pitchFamily="34" charset="-122"/>
                <a:cs typeface="Calibri" pitchFamily="34" charset="-120"/>
              </a:rPr>
              <a:t>days before retention kicks in - export anything you need to keep</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640080" y="475488"/>
            <a:ext cx="50292" cy="219456"/>
          </a:xfrm>
          <a:prstGeom prst="rect">
            <a:avLst/>
          </a:prstGeom>
          <a:solidFill>
            <a:srgbClr val="F0883E"/>
          </a:solidFill>
          <a:ln/>
        </p:spPr>
      </p:sp>
      <p:sp>
        <p:nvSpPr>
          <p:cNvPr id="3" name="Text 1"/>
          <p:cNvSpPr/>
          <p:nvPr/>
        </p:nvSpPr>
        <p:spPr>
          <a:xfrm>
            <a:off x="786384" y="438912"/>
            <a:ext cx="7772400" cy="292608"/>
          </a:xfrm>
          <a:prstGeom prst="rect">
            <a:avLst/>
          </a:prstGeom>
          <a:noFill/>
          <a:ln/>
        </p:spPr>
        <p:txBody>
          <a:bodyPr wrap="square" lIns="0" tIns="0" rIns="0" bIns="0" rtlCol="0" anchor="ctr"/>
          <a:lstStyle/>
          <a:p>
            <a:pPr indent="0" marL="0">
              <a:buNone/>
            </a:pPr>
            <a:r>
              <a:rPr lang="en-US" sz="1050" b="1" spc="140" kern="0" dirty="0">
                <a:solidFill>
                  <a:srgbClr val="F0883E"/>
                </a:solidFill>
                <a:latin typeface="Consolas" pitchFamily="34" charset="0"/>
                <a:ea typeface="Consolas" pitchFamily="34" charset="-122"/>
                <a:cs typeface="Consolas" pitchFamily="34" charset="-120"/>
              </a:rPr>
              <a:t>AUG 27, 2026  /  PLATFORM</a:t>
            </a:r>
            <a:endParaRPr lang="en-US" sz="1050" dirty="0"/>
          </a:p>
        </p:txBody>
      </p:sp>
      <p:sp>
        <p:nvSpPr>
          <p:cNvPr id="4" name="Text 2"/>
          <p:cNvSpPr/>
          <p:nvPr/>
        </p:nvSpPr>
        <p:spPr>
          <a:xfrm>
            <a:off x="640080" y="786384"/>
            <a:ext cx="10911535" cy="713232"/>
          </a:xfrm>
          <a:prstGeom prst="rect">
            <a:avLst/>
          </a:prstGeom>
          <a:noFill/>
          <a:ln/>
        </p:spPr>
        <p:txBody>
          <a:bodyPr wrap="square" lIns="0" tIns="0" rIns="0" bIns="0" rtlCol="0" anchor="ctr"/>
          <a:lstStyle/>
          <a:p>
            <a:pPr indent="0" marL="0">
              <a:buNone/>
            </a:pPr>
            <a:r>
              <a:rPr lang="en-US" sz="3300" b="1" dirty="0">
                <a:solidFill>
                  <a:srgbClr val="E6EDF3"/>
                </a:solidFill>
                <a:latin typeface="Trebuchet MS" pitchFamily="34" charset="0"/>
                <a:ea typeface="Trebuchet MS" pitchFamily="34" charset="-122"/>
                <a:cs typeface="Trebuchet MS" pitchFamily="34" charset="-120"/>
              </a:rPr>
              <a:t>Retention now covers checks, runs and statuses</a:t>
            </a:r>
            <a:endParaRPr lang="en-US" sz="3300" dirty="0"/>
          </a:p>
        </p:txBody>
      </p:sp>
      <p:sp>
        <p:nvSpPr>
          <p:cNvPr id="5" name="Shape 3"/>
          <p:cNvSpPr/>
          <p:nvPr/>
        </p:nvSpPr>
        <p:spPr>
          <a:xfrm>
            <a:off x="640080" y="1682496"/>
            <a:ext cx="5272888" cy="1847088"/>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6" name="Shape 4"/>
          <p:cNvSpPr/>
          <p:nvPr/>
        </p:nvSpPr>
        <p:spPr>
          <a:xfrm>
            <a:off x="640080" y="1682496"/>
            <a:ext cx="54864" cy="1847088"/>
          </a:xfrm>
          <a:prstGeom prst="rect">
            <a:avLst/>
          </a:prstGeom>
          <a:solidFill>
            <a:srgbClr val="8B949E"/>
          </a:solidFill>
          <a:ln/>
        </p:spPr>
      </p:sp>
      <p:sp>
        <p:nvSpPr>
          <p:cNvPr id="7" name="Text 5"/>
          <p:cNvSpPr/>
          <p:nvPr/>
        </p:nvSpPr>
        <p:spPr>
          <a:xfrm>
            <a:off x="950976" y="1847088"/>
            <a:ext cx="2743200" cy="274320"/>
          </a:xfrm>
          <a:prstGeom prst="rect">
            <a:avLst/>
          </a:prstGeom>
          <a:noFill/>
          <a:ln/>
        </p:spPr>
        <p:txBody>
          <a:bodyPr wrap="square" lIns="0" tIns="0" rIns="0" bIns="0" rtlCol="0" anchor="ctr"/>
          <a:lstStyle/>
          <a:p>
            <a:pPr indent="0" marL="0">
              <a:buNone/>
            </a:pPr>
            <a:r>
              <a:rPr lang="en-US" sz="1000" b="1" spc="140" kern="0" dirty="0">
                <a:solidFill>
                  <a:srgbClr val="8B949E"/>
                </a:solidFill>
                <a:latin typeface="Consolas" pitchFamily="34" charset="0"/>
                <a:ea typeface="Consolas" pitchFamily="34" charset="-122"/>
                <a:cs typeface="Consolas" pitchFamily="34" charset="-120"/>
              </a:rPr>
              <a:t>TODAY</a:t>
            </a:r>
            <a:endParaRPr lang="en-US" sz="1000" dirty="0"/>
          </a:p>
        </p:txBody>
      </p:sp>
      <p:sp>
        <p:nvSpPr>
          <p:cNvPr id="8" name="Text 6"/>
          <p:cNvSpPr/>
          <p:nvPr/>
        </p:nvSpPr>
        <p:spPr>
          <a:xfrm>
            <a:off x="950976" y="2157984"/>
            <a:ext cx="4651096" cy="548640"/>
          </a:xfrm>
          <a:prstGeom prst="rect">
            <a:avLst/>
          </a:prstGeom>
          <a:noFill/>
          <a:ln/>
        </p:spPr>
        <p:txBody>
          <a:bodyPr wrap="square" lIns="0" tIns="0" rIns="0" bIns="0" rtlCol="0" anchor="ctr"/>
          <a:lstStyle/>
          <a:p>
            <a:pPr indent="0" marL="0">
              <a:buNone/>
            </a:pPr>
            <a:r>
              <a:rPr lang="en-US" sz="2900" b="1" dirty="0">
                <a:solidFill>
                  <a:srgbClr val="8B949E"/>
                </a:solidFill>
                <a:latin typeface="Trebuchet MS" pitchFamily="34" charset="0"/>
                <a:ea typeface="Trebuchet MS" pitchFamily="34" charset="-122"/>
                <a:cs typeface="Trebuchet MS" pitchFamily="34" charset="-120"/>
              </a:rPr>
              <a:t>400+ days</a:t>
            </a:r>
            <a:endParaRPr lang="en-US" sz="2900" dirty="0"/>
          </a:p>
        </p:txBody>
      </p:sp>
      <p:sp>
        <p:nvSpPr>
          <p:cNvPr id="9" name="Text 7"/>
          <p:cNvSpPr/>
          <p:nvPr/>
        </p:nvSpPr>
        <p:spPr>
          <a:xfrm>
            <a:off x="950976" y="2761488"/>
            <a:ext cx="4651096" cy="640080"/>
          </a:xfrm>
          <a:prstGeom prst="rect">
            <a:avLst/>
          </a:prstGeom>
          <a:noFill/>
          <a:ln/>
        </p:spPr>
        <p:txBody>
          <a:bodyPr wrap="square" lIns="0" tIns="0" rIns="0" bIns="0" rtlCol="0" anchor="ctr"/>
          <a:lstStyle/>
          <a:p>
            <a:pPr indent="0" marL="0">
              <a:lnSpc>
                <a:spcPts val="1700"/>
              </a:lnSpc>
              <a:buNone/>
            </a:pPr>
            <a:r>
              <a:rPr lang="en-US" sz="1250" dirty="0">
                <a:solidFill>
                  <a:srgbClr val="8B949E"/>
                </a:solidFill>
                <a:latin typeface="Calibri" pitchFamily="34" charset="0"/>
                <a:ea typeface="Calibri" pitchFamily="34" charset="-122"/>
                <a:cs typeface="Calibri" pitchFamily="34" charset="-120"/>
              </a:rPr>
              <a:t>Checks, workflow runs and statuses persist well beyond your Actions retention setting.</a:t>
            </a:r>
            <a:endParaRPr lang="en-US" sz="1250" dirty="0"/>
          </a:p>
        </p:txBody>
      </p:sp>
      <p:sp>
        <p:nvSpPr>
          <p:cNvPr id="10" name="Shape 8"/>
          <p:cNvSpPr/>
          <p:nvPr/>
        </p:nvSpPr>
        <p:spPr>
          <a:xfrm>
            <a:off x="6278728" y="1682496"/>
            <a:ext cx="5272888" cy="1847088"/>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11" name="Shape 9"/>
          <p:cNvSpPr/>
          <p:nvPr/>
        </p:nvSpPr>
        <p:spPr>
          <a:xfrm>
            <a:off x="6278728" y="1682496"/>
            <a:ext cx="54864" cy="1847088"/>
          </a:xfrm>
          <a:prstGeom prst="rect">
            <a:avLst/>
          </a:prstGeom>
          <a:solidFill>
            <a:srgbClr val="F0883E"/>
          </a:solidFill>
          <a:ln/>
        </p:spPr>
      </p:sp>
      <p:sp>
        <p:nvSpPr>
          <p:cNvPr id="12" name="Text 10"/>
          <p:cNvSpPr/>
          <p:nvPr/>
        </p:nvSpPr>
        <p:spPr>
          <a:xfrm>
            <a:off x="6589624" y="1847088"/>
            <a:ext cx="3657600" cy="274320"/>
          </a:xfrm>
          <a:prstGeom prst="rect">
            <a:avLst/>
          </a:prstGeom>
          <a:noFill/>
          <a:ln/>
        </p:spPr>
        <p:txBody>
          <a:bodyPr wrap="square" lIns="0" tIns="0" rIns="0" bIns="0" rtlCol="0" anchor="ctr"/>
          <a:lstStyle/>
          <a:p>
            <a:pPr indent="0" marL="0">
              <a:buNone/>
            </a:pPr>
            <a:r>
              <a:rPr lang="en-US" sz="1000" b="1" spc="140" kern="0" dirty="0">
                <a:solidFill>
                  <a:srgbClr val="F0883E"/>
                </a:solidFill>
                <a:latin typeface="Consolas" pitchFamily="34" charset="0"/>
                <a:ea typeface="Consolas" pitchFamily="34" charset="-122"/>
                <a:cs typeface="Consolas" pitchFamily="34" charset="-120"/>
              </a:rPr>
              <a:t>FROM OCTOBER 1, 2026</a:t>
            </a:r>
            <a:endParaRPr lang="en-US" sz="1000" dirty="0"/>
          </a:p>
        </p:txBody>
      </p:sp>
      <p:sp>
        <p:nvSpPr>
          <p:cNvPr id="13" name="Text 11"/>
          <p:cNvSpPr/>
          <p:nvPr/>
        </p:nvSpPr>
        <p:spPr>
          <a:xfrm>
            <a:off x="6589624" y="2157984"/>
            <a:ext cx="4651096" cy="548640"/>
          </a:xfrm>
          <a:prstGeom prst="rect">
            <a:avLst/>
          </a:prstGeom>
          <a:noFill/>
          <a:ln/>
        </p:spPr>
        <p:txBody>
          <a:bodyPr wrap="square" lIns="0" tIns="0" rIns="0" bIns="0" rtlCol="0" anchor="ctr"/>
          <a:lstStyle/>
          <a:p>
            <a:pPr indent="0" marL="0">
              <a:buNone/>
            </a:pPr>
            <a:r>
              <a:rPr lang="en-US" sz="2900" b="1" dirty="0">
                <a:solidFill>
                  <a:srgbClr val="E6EDF3"/>
                </a:solidFill>
                <a:latin typeface="Trebuchet MS" pitchFamily="34" charset="0"/>
                <a:ea typeface="Trebuchet MS" pitchFamily="34" charset="-122"/>
                <a:cs typeface="Trebuchet MS" pitchFamily="34" charset="-120"/>
              </a:rPr>
              <a:t>90 days</a:t>
            </a:r>
            <a:pPr indent="0" marL="0">
              <a:buNone/>
            </a:pPr>
            <a:r>
              <a:rPr lang="en-US" sz="1400" dirty="0">
                <a:solidFill>
                  <a:srgbClr val="8B949E"/>
                </a:solidFill>
                <a:latin typeface="Trebuchet MS" pitchFamily="34" charset="0"/>
                <a:ea typeface="Trebuchet MS" pitchFamily="34" charset="-122"/>
                <a:cs typeface="Trebuchet MS" pitchFamily="34" charset="-120"/>
              </a:rPr>
              <a:t>   by default</a:t>
            </a:r>
            <a:endParaRPr lang="en-US" sz="2900" dirty="0"/>
          </a:p>
        </p:txBody>
      </p:sp>
      <p:sp>
        <p:nvSpPr>
          <p:cNvPr id="14" name="Text 12"/>
          <p:cNvSpPr/>
          <p:nvPr/>
        </p:nvSpPr>
        <p:spPr>
          <a:xfrm>
            <a:off x="6589624" y="2761488"/>
            <a:ext cx="4651096" cy="640080"/>
          </a:xfrm>
          <a:prstGeom prst="rect">
            <a:avLst/>
          </a:prstGeom>
          <a:noFill/>
          <a:ln/>
        </p:spPr>
        <p:txBody>
          <a:bodyPr wrap="square" lIns="0" tIns="0" rIns="0" bIns="0" rtlCol="0" anchor="ctr"/>
          <a:lstStyle/>
          <a:p>
            <a:pPr indent="0" marL="0">
              <a:lnSpc>
                <a:spcPts val="1700"/>
              </a:lnSpc>
              <a:buNone/>
            </a:pPr>
            <a:r>
              <a:rPr lang="en-US" sz="1250" dirty="0">
                <a:solidFill>
                  <a:srgbClr val="E6EDF3"/>
                </a:solidFill>
                <a:latin typeface="Calibri" pitchFamily="34" charset="0"/>
                <a:ea typeface="Calibri" pitchFamily="34" charset="-122"/>
                <a:cs typeface="Calibri" pitchFamily="34" charset="-120"/>
              </a:rPr>
              <a:t>They follow the same setting as artifacts and logs, now renamed "Check, workflow run, status, artifact and log retention".</a:t>
            </a:r>
            <a:endParaRPr lang="en-US" sz="1250" dirty="0"/>
          </a:p>
        </p:txBody>
      </p:sp>
      <p:sp>
        <p:nvSpPr>
          <p:cNvPr id="15" name="Shape 13"/>
          <p:cNvSpPr/>
          <p:nvPr/>
        </p:nvSpPr>
        <p:spPr>
          <a:xfrm>
            <a:off x="640080" y="3840480"/>
            <a:ext cx="3393338" cy="2103120"/>
          </a:xfrm>
          <a:prstGeom prst="rect">
            <a:avLst/>
          </a:prstGeom>
          <a:solidFill>
            <a:srgbClr val="1C2430"/>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16" name="Shape 14"/>
          <p:cNvSpPr/>
          <p:nvPr/>
        </p:nvSpPr>
        <p:spPr>
          <a:xfrm>
            <a:off x="640080" y="3840480"/>
            <a:ext cx="54864" cy="2103120"/>
          </a:xfrm>
          <a:prstGeom prst="rect">
            <a:avLst/>
          </a:prstGeom>
          <a:solidFill>
            <a:srgbClr val="F0883E"/>
          </a:solidFill>
          <a:ln/>
        </p:spPr>
      </p:sp>
      <p:pic>
        <p:nvPicPr>
          <p:cNvPr id="17" name="Image 0" descr="preencoded.png">    </p:cNvPr>
          <p:cNvPicPr>
            <a:picLocks noChangeAspect="1"/>
          </p:cNvPicPr>
          <p:nvPr/>
        </p:nvPicPr>
        <p:blipFill>
          <a:blip r:embed="rId1"/>
          <a:stretch>
            <a:fillRect/>
          </a:stretch>
        </p:blipFill>
        <p:spPr>
          <a:xfrm>
            <a:off x="914400" y="4096512"/>
            <a:ext cx="329184" cy="329184"/>
          </a:xfrm>
          <a:prstGeom prst="rect">
            <a:avLst/>
          </a:prstGeom>
        </p:spPr>
      </p:pic>
      <p:sp>
        <p:nvSpPr>
          <p:cNvPr id="18" name="Text 15"/>
          <p:cNvSpPr/>
          <p:nvPr/>
        </p:nvSpPr>
        <p:spPr>
          <a:xfrm>
            <a:off x="914400" y="4535424"/>
            <a:ext cx="2844698" cy="329184"/>
          </a:xfrm>
          <a:prstGeom prst="rect">
            <a:avLst/>
          </a:prstGeom>
          <a:noFill/>
          <a:ln/>
        </p:spPr>
        <p:txBody>
          <a:bodyPr wrap="square" lIns="0" tIns="0" rIns="0" bIns="0" rtlCol="0" anchor="ctr"/>
          <a:lstStyle/>
          <a:p>
            <a:pPr indent="0" marL="0">
              <a:buNone/>
            </a:pPr>
            <a:r>
              <a:rPr lang="en-US" sz="1500" b="1" dirty="0">
                <a:solidFill>
                  <a:srgbClr val="E6EDF3"/>
                </a:solidFill>
                <a:latin typeface="Trebuchet MS" pitchFamily="34" charset="0"/>
                <a:ea typeface="Trebuchet MS" pitchFamily="34" charset="-122"/>
                <a:cs typeface="Trebuchet MS" pitchFamily="34" charset="-120"/>
              </a:rPr>
              <a:t>Not retroactive</a:t>
            </a:r>
            <a:endParaRPr lang="en-US" sz="1500" dirty="0"/>
          </a:p>
        </p:txBody>
      </p:sp>
      <p:sp>
        <p:nvSpPr>
          <p:cNvPr id="19" name="Text 16"/>
          <p:cNvSpPr/>
          <p:nvPr/>
        </p:nvSpPr>
        <p:spPr>
          <a:xfrm>
            <a:off x="914400" y="4919472"/>
            <a:ext cx="2844698" cy="868680"/>
          </a:xfrm>
          <a:prstGeom prst="rect">
            <a:avLst/>
          </a:prstGeom>
          <a:noFill/>
          <a:ln/>
        </p:spPr>
        <p:txBody>
          <a:bodyPr wrap="square" lIns="0" tIns="0" rIns="0" bIns="0" rtlCol="0" anchor="t"/>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Raising retention later will not bring back data that has already been evicted.</a:t>
            </a:r>
            <a:endParaRPr lang="en-US" sz="1200" dirty="0"/>
          </a:p>
        </p:txBody>
      </p:sp>
      <p:sp>
        <p:nvSpPr>
          <p:cNvPr id="20" name="Shape 17"/>
          <p:cNvSpPr/>
          <p:nvPr/>
        </p:nvSpPr>
        <p:spPr>
          <a:xfrm>
            <a:off x="4399178" y="3840480"/>
            <a:ext cx="3393338" cy="2103120"/>
          </a:xfrm>
          <a:prstGeom prst="rect">
            <a:avLst/>
          </a:prstGeom>
          <a:solidFill>
            <a:srgbClr val="1C2430"/>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1" name="Shape 18"/>
          <p:cNvSpPr/>
          <p:nvPr/>
        </p:nvSpPr>
        <p:spPr>
          <a:xfrm>
            <a:off x="4399178" y="3840480"/>
            <a:ext cx="54864" cy="2103120"/>
          </a:xfrm>
          <a:prstGeom prst="rect">
            <a:avLst/>
          </a:prstGeom>
          <a:solidFill>
            <a:srgbClr val="F0883E"/>
          </a:solidFill>
          <a:ln/>
        </p:spPr>
      </p:sp>
      <p:pic>
        <p:nvPicPr>
          <p:cNvPr id="22" name="Image 1" descr="preencoded.png">    </p:cNvPr>
          <p:cNvPicPr>
            <a:picLocks noChangeAspect="1"/>
          </p:cNvPicPr>
          <p:nvPr/>
        </p:nvPicPr>
        <p:blipFill>
          <a:blip r:embed="rId2"/>
          <a:stretch>
            <a:fillRect/>
          </a:stretch>
        </p:blipFill>
        <p:spPr>
          <a:xfrm>
            <a:off x="4673498" y="4096512"/>
            <a:ext cx="329184" cy="329184"/>
          </a:xfrm>
          <a:prstGeom prst="rect">
            <a:avLst/>
          </a:prstGeom>
        </p:spPr>
      </p:pic>
      <p:sp>
        <p:nvSpPr>
          <p:cNvPr id="23" name="Text 19"/>
          <p:cNvSpPr/>
          <p:nvPr/>
        </p:nvSpPr>
        <p:spPr>
          <a:xfrm>
            <a:off x="4673498" y="4535424"/>
            <a:ext cx="2844698" cy="329184"/>
          </a:xfrm>
          <a:prstGeom prst="rect">
            <a:avLst/>
          </a:prstGeom>
          <a:noFill/>
          <a:ln/>
        </p:spPr>
        <p:txBody>
          <a:bodyPr wrap="square" lIns="0" tIns="0" rIns="0" bIns="0" rtlCol="0" anchor="ctr"/>
          <a:lstStyle/>
          <a:p>
            <a:pPr indent="0" marL="0">
              <a:buNone/>
            </a:pPr>
            <a:r>
              <a:rPr lang="en-US" sz="1500" b="1" dirty="0">
                <a:solidFill>
                  <a:srgbClr val="E6EDF3"/>
                </a:solidFill>
                <a:latin typeface="Trebuchet MS" pitchFamily="34" charset="0"/>
                <a:ea typeface="Trebuchet MS" pitchFamily="34" charset="-122"/>
                <a:cs typeface="Trebuchet MS" pitchFamily="34" charset="-120"/>
              </a:rPr>
              <a:t>Caps still apply</a:t>
            </a:r>
            <a:endParaRPr lang="en-US" sz="1500" dirty="0"/>
          </a:p>
        </p:txBody>
      </p:sp>
      <p:sp>
        <p:nvSpPr>
          <p:cNvPr id="24" name="Text 20"/>
          <p:cNvSpPr/>
          <p:nvPr/>
        </p:nvSpPr>
        <p:spPr>
          <a:xfrm>
            <a:off x="4673498" y="4919472"/>
            <a:ext cx="2844698" cy="868680"/>
          </a:xfrm>
          <a:prstGeom prst="rect">
            <a:avLst/>
          </a:prstGeom>
          <a:noFill/>
          <a:ln/>
        </p:spPr>
        <p:txBody>
          <a:bodyPr wrap="square" lIns="0" tIns="0" rIns="0" bIns="0" rtlCol="0" anchor="t"/>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A repo can only raise retention up to the org or enterprise cap. Public repos max out at 90 days.</a:t>
            </a:r>
            <a:endParaRPr lang="en-US" sz="1200" dirty="0"/>
          </a:p>
        </p:txBody>
      </p:sp>
      <p:sp>
        <p:nvSpPr>
          <p:cNvPr id="25" name="Shape 21"/>
          <p:cNvSpPr/>
          <p:nvPr/>
        </p:nvSpPr>
        <p:spPr>
          <a:xfrm>
            <a:off x="8158277" y="3840480"/>
            <a:ext cx="3393338" cy="2103120"/>
          </a:xfrm>
          <a:prstGeom prst="rect">
            <a:avLst/>
          </a:prstGeom>
          <a:solidFill>
            <a:srgbClr val="1C2430"/>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6" name="Shape 22"/>
          <p:cNvSpPr/>
          <p:nvPr/>
        </p:nvSpPr>
        <p:spPr>
          <a:xfrm>
            <a:off x="8158277" y="3840480"/>
            <a:ext cx="54864" cy="2103120"/>
          </a:xfrm>
          <a:prstGeom prst="rect">
            <a:avLst/>
          </a:prstGeom>
          <a:solidFill>
            <a:srgbClr val="3FB950"/>
          </a:solidFill>
          <a:ln/>
        </p:spPr>
      </p:sp>
      <p:pic>
        <p:nvPicPr>
          <p:cNvPr id="27" name="Image 2" descr="preencoded.png">    </p:cNvPr>
          <p:cNvPicPr>
            <a:picLocks noChangeAspect="1"/>
          </p:cNvPicPr>
          <p:nvPr/>
        </p:nvPicPr>
        <p:blipFill>
          <a:blip r:embed="rId3"/>
          <a:stretch>
            <a:fillRect/>
          </a:stretch>
        </p:blipFill>
        <p:spPr>
          <a:xfrm>
            <a:off x="8432597" y="4096512"/>
            <a:ext cx="329184" cy="329184"/>
          </a:xfrm>
          <a:prstGeom prst="rect">
            <a:avLst/>
          </a:prstGeom>
        </p:spPr>
      </p:pic>
      <p:sp>
        <p:nvSpPr>
          <p:cNvPr id="28" name="Text 23"/>
          <p:cNvSpPr/>
          <p:nvPr/>
        </p:nvSpPr>
        <p:spPr>
          <a:xfrm>
            <a:off x="8432597" y="4535424"/>
            <a:ext cx="2844698" cy="329184"/>
          </a:xfrm>
          <a:prstGeom prst="rect">
            <a:avLst/>
          </a:prstGeom>
          <a:noFill/>
          <a:ln/>
        </p:spPr>
        <p:txBody>
          <a:bodyPr wrap="square" lIns="0" tIns="0" rIns="0" bIns="0" rtlCol="0" anchor="ctr"/>
          <a:lstStyle/>
          <a:p>
            <a:pPr indent="0" marL="0">
              <a:buNone/>
            </a:pPr>
            <a:r>
              <a:rPr lang="en-US" sz="1500" b="1" dirty="0">
                <a:solidFill>
                  <a:srgbClr val="E6EDF3"/>
                </a:solidFill>
                <a:latin typeface="Trebuchet MS" pitchFamily="34" charset="0"/>
                <a:ea typeface="Trebuchet MS" pitchFamily="34" charset="-122"/>
                <a:cs typeface="Trebuchet MS" pitchFamily="34" charset="-120"/>
              </a:rPr>
              <a:t>Billing is unchanged</a:t>
            </a:r>
            <a:endParaRPr lang="en-US" sz="1500" dirty="0"/>
          </a:p>
        </p:txBody>
      </p:sp>
      <p:sp>
        <p:nvSpPr>
          <p:cNvPr id="29" name="Text 24"/>
          <p:cNvSpPr/>
          <p:nvPr/>
        </p:nvSpPr>
        <p:spPr>
          <a:xfrm>
            <a:off x="8432597" y="4919472"/>
            <a:ext cx="2844698" cy="868680"/>
          </a:xfrm>
          <a:prstGeom prst="rect">
            <a:avLst/>
          </a:prstGeom>
          <a:noFill/>
          <a:ln/>
        </p:spPr>
        <p:txBody>
          <a:bodyPr wrap="square" lIns="0" tIns="0" rIns="0" bIns="0" rtlCol="0" anchor="t"/>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Artifacts and logs still count toward billable Actions storage. Check, run and status metadata is not billed.</a:t>
            </a:r>
            <a:endParaRPr lang="en-US" sz="1200" dirty="0"/>
          </a:p>
        </p:txBody>
      </p:sp>
      <p:sp>
        <p:nvSpPr>
          <p:cNvPr id="30" name="Text 25"/>
          <p:cNvSpPr/>
          <p:nvPr/>
        </p:nvSpPr>
        <p:spPr>
          <a:xfrm>
            <a:off x="640080" y="6309360"/>
            <a:ext cx="6949440" cy="274320"/>
          </a:xfrm>
          <a:prstGeom prst="rect">
            <a:avLst/>
          </a:prstGeom>
          <a:noFill/>
          <a:ln/>
        </p:spPr>
        <p:txBody>
          <a:bodyPr wrap="square" lIns="0" tIns="0" rIns="0" bIns="0" rtlCol="0" anchor="ctr"/>
          <a:lstStyle/>
          <a:p>
            <a:pPr indent="0" marL="0">
              <a:buNone/>
            </a:pPr>
            <a:r>
              <a:rPr lang="en-US" sz="900" dirty="0">
                <a:solidFill>
                  <a:srgbClr val="8B949E"/>
                </a:solidFill>
                <a:latin typeface="Consolas" pitchFamily="34" charset="0"/>
                <a:ea typeface="Consolas" pitchFamily="34" charset="-122"/>
                <a:cs typeface="Consolas" pitchFamily="34" charset="-120"/>
              </a:rPr>
              <a:t>changelog: actions-retention-will-cover-checks-workflow-runs-and-statuses</a:t>
            </a:r>
            <a:endParaRPr lang="en-US" sz="900" dirty="0"/>
          </a:p>
        </p:txBody>
      </p:sp>
      <p:sp>
        <p:nvSpPr>
          <p:cNvPr id="31" name="Text 26"/>
          <p:cNvSpPr/>
          <p:nvPr/>
        </p:nvSpPr>
        <p:spPr>
          <a:xfrm>
            <a:off x="7345375" y="6309360"/>
            <a:ext cx="4206240" cy="27432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AUG 27, 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640080" y="475488"/>
            <a:ext cx="50292" cy="219456"/>
          </a:xfrm>
          <a:prstGeom prst="rect">
            <a:avLst/>
          </a:prstGeom>
          <a:solidFill>
            <a:srgbClr val="2F81F7"/>
          </a:solidFill>
          <a:ln/>
        </p:spPr>
      </p:sp>
      <p:sp>
        <p:nvSpPr>
          <p:cNvPr id="3" name="Text 1"/>
          <p:cNvSpPr/>
          <p:nvPr/>
        </p:nvSpPr>
        <p:spPr>
          <a:xfrm>
            <a:off x="786384" y="438912"/>
            <a:ext cx="7772400" cy="292608"/>
          </a:xfrm>
          <a:prstGeom prst="rect">
            <a:avLst/>
          </a:prstGeom>
          <a:noFill/>
          <a:ln/>
        </p:spPr>
        <p:txBody>
          <a:bodyPr wrap="square" lIns="0" tIns="0" rIns="0" bIns="0" rtlCol="0" anchor="ctr"/>
          <a:lstStyle/>
          <a:p>
            <a:pPr indent="0" marL="0">
              <a:buNone/>
            </a:pPr>
            <a:r>
              <a:rPr lang="en-US" sz="1050" b="1" spc="140" kern="0" dirty="0">
                <a:solidFill>
                  <a:srgbClr val="2F81F7"/>
                </a:solidFill>
                <a:latin typeface="Consolas" pitchFamily="34" charset="0"/>
                <a:ea typeface="Consolas" pitchFamily="34" charset="-122"/>
                <a:cs typeface="Consolas" pitchFamily="34" charset="-120"/>
              </a:rPr>
              <a:t>AUG 20, 2026  /  RUNNERS</a:t>
            </a:r>
            <a:endParaRPr lang="en-US" sz="1050" dirty="0"/>
          </a:p>
        </p:txBody>
      </p:sp>
      <p:sp>
        <p:nvSpPr>
          <p:cNvPr id="4" name="Text 2"/>
          <p:cNvSpPr/>
          <p:nvPr/>
        </p:nvSpPr>
        <p:spPr>
          <a:xfrm>
            <a:off x="640080" y="786384"/>
            <a:ext cx="10911535" cy="713232"/>
          </a:xfrm>
          <a:prstGeom prst="rect">
            <a:avLst/>
          </a:prstGeom>
          <a:noFill/>
          <a:ln/>
        </p:spPr>
        <p:txBody>
          <a:bodyPr wrap="square" lIns="0" tIns="0" rIns="0" bIns="0" rtlCol="0" anchor="ctr"/>
          <a:lstStyle/>
          <a:p>
            <a:pPr indent="0" marL="0">
              <a:buNone/>
            </a:pPr>
            <a:r>
              <a:rPr lang="en-US" sz="3300" b="1" dirty="0">
                <a:solidFill>
                  <a:srgbClr val="E6EDF3"/>
                </a:solidFill>
                <a:latin typeface="Trebuchet MS" pitchFamily="34" charset="0"/>
                <a:ea typeface="Trebuchet MS" pitchFamily="34" charset="-122"/>
                <a:cs typeface="Trebuchet MS" pitchFamily="34" charset="-120"/>
              </a:rPr>
              <a:t>Windows 11 arm64 with VS2026 is generally available</a:t>
            </a:r>
            <a:endParaRPr lang="en-US" sz="3300" dirty="0"/>
          </a:p>
        </p:txBody>
      </p:sp>
      <p:pic>
        <p:nvPicPr>
          <p:cNvPr id="5" name="Image 0" descr="preencoded.png">    </p:cNvPr>
          <p:cNvPicPr>
            <a:picLocks noChangeAspect="1"/>
          </p:cNvPicPr>
          <p:nvPr/>
        </p:nvPicPr>
        <p:blipFill>
          <a:blip r:embed="rId1"/>
          <a:stretch>
            <a:fillRect/>
          </a:stretch>
        </p:blipFill>
        <p:spPr>
          <a:xfrm>
            <a:off x="640080" y="1700784"/>
            <a:ext cx="365760" cy="365760"/>
          </a:xfrm>
          <a:prstGeom prst="rect">
            <a:avLst/>
          </a:prstGeom>
        </p:spPr>
      </p:pic>
      <p:sp>
        <p:nvSpPr>
          <p:cNvPr id="6" name="Text 3"/>
          <p:cNvSpPr/>
          <p:nvPr/>
        </p:nvSpPr>
        <p:spPr>
          <a:xfrm>
            <a:off x="1188720" y="1700784"/>
            <a:ext cx="5212080" cy="365760"/>
          </a:xfrm>
          <a:prstGeom prst="rect">
            <a:avLst/>
          </a:prstGeom>
          <a:noFill/>
          <a:ln/>
        </p:spPr>
        <p:txBody>
          <a:bodyPr wrap="square" lIns="0" tIns="0" rIns="0" bIns="0" rtlCol="0" anchor="ctr"/>
          <a:lstStyle/>
          <a:p>
            <a:pPr indent="0" marL="0">
              <a:buNone/>
            </a:pPr>
            <a:r>
              <a:rPr lang="en-US" sz="1350" dirty="0">
                <a:solidFill>
                  <a:srgbClr val="E6EDF3"/>
                </a:solidFill>
                <a:latin typeface="Calibri" pitchFamily="34" charset="0"/>
                <a:ea typeface="Calibri" pitchFamily="34" charset="-122"/>
                <a:cs typeface="Calibri" pitchFamily="34" charset="-120"/>
              </a:rPr>
              <a:t>On standard and larger hosted runners today:</a:t>
            </a:r>
            <a:endParaRPr lang="en-US" sz="1350" dirty="0"/>
          </a:p>
        </p:txBody>
      </p:sp>
      <p:sp>
        <p:nvSpPr>
          <p:cNvPr id="7" name="Shape 4"/>
          <p:cNvSpPr/>
          <p:nvPr/>
        </p:nvSpPr>
        <p:spPr>
          <a:xfrm>
            <a:off x="640080" y="2231136"/>
            <a:ext cx="5760720" cy="1280160"/>
          </a:xfrm>
          <a:prstGeom prst="rect">
            <a:avLst/>
          </a:prstGeom>
          <a:solidFill>
            <a:srgbClr val="010409"/>
          </a:solidFill>
          <a:ln w="9525">
            <a:solidFill>
              <a:srgbClr val="30363D"/>
            </a:solidFill>
            <a:prstDash val="solid"/>
          </a:ln>
        </p:spPr>
      </p:sp>
      <p:sp>
        <p:nvSpPr>
          <p:cNvPr id="8" name="Shape 5"/>
          <p:cNvSpPr/>
          <p:nvPr/>
        </p:nvSpPr>
        <p:spPr>
          <a:xfrm>
            <a:off x="640080" y="2231136"/>
            <a:ext cx="54864" cy="1280160"/>
          </a:xfrm>
          <a:prstGeom prst="rect">
            <a:avLst/>
          </a:prstGeom>
          <a:solidFill>
            <a:srgbClr val="2F81F7"/>
          </a:solidFill>
          <a:ln/>
        </p:spPr>
      </p:sp>
      <p:sp>
        <p:nvSpPr>
          <p:cNvPr id="9" name="Text 6"/>
          <p:cNvSpPr/>
          <p:nvPr/>
        </p:nvSpPr>
        <p:spPr>
          <a:xfrm>
            <a:off x="914400" y="2414016"/>
            <a:ext cx="5303520" cy="914400"/>
          </a:xfrm>
          <a:prstGeom prst="rect">
            <a:avLst/>
          </a:prstGeom>
          <a:noFill/>
          <a:ln/>
        </p:spPr>
        <p:txBody>
          <a:bodyPr wrap="square" lIns="0" tIns="0" rIns="0" bIns="0" rtlCol="0" anchor="ctr"/>
          <a:lstStyle/>
          <a:p>
            <a:pPr indent="0" marL="0">
              <a:lnSpc>
                <a:spcPts val="1900"/>
              </a:lnSpc>
              <a:buNone/>
            </a:pPr>
            <a:r>
              <a:rPr lang="en-US" sz="1300" dirty="0">
                <a:solidFill>
                  <a:srgbClr val="8B949E"/>
                </a:solidFill>
                <a:latin typeface="Consolas" pitchFamily="34" charset="0"/>
                <a:ea typeface="Consolas" pitchFamily="34" charset="-122"/>
                <a:cs typeface="Consolas" pitchFamily="34" charset="-120"/>
              </a:rPr>
              <a:t>jobs:</a:t>
            </a:r>
            <a:endParaRPr lang="en-US" sz="1300" dirty="0"/>
          </a:p>
          <a:p>
            <a:pPr indent="0" marL="0">
              <a:lnSpc>
                <a:spcPts val="1900"/>
              </a:lnSpc>
              <a:buNone/>
            </a:pPr>
            <a:r>
              <a:rPr lang="en-US" sz="1300" dirty="0">
                <a:solidFill>
                  <a:srgbClr val="8B949E"/>
                </a:solidFill>
                <a:latin typeface="Consolas" pitchFamily="34" charset="0"/>
                <a:ea typeface="Consolas" pitchFamily="34" charset="-122"/>
                <a:cs typeface="Consolas" pitchFamily="34" charset="-120"/>
              </a:rPr>
              <a:t>  build:</a:t>
            </a:r>
            <a:endParaRPr lang="en-US" sz="1300" dirty="0"/>
          </a:p>
          <a:p>
            <a:pPr indent="0" marL="0">
              <a:lnSpc>
                <a:spcPts val="1900"/>
              </a:lnSpc>
              <a:buNone/>
            </a:pPr>
            <a:r>
              <a:rPr lang="en-US" sz="1300" b="1" dirty="0">
                <a:solidFill>
                  <a:srgbClr val="3FB950"/>
                </a:solidFill>
                <a:latin typeface="Consolas" pitchFamily="34" charset="0"/>
                <a:ea typeface="Consolas" pitchFamily="34" charset="-122"/>
                <a:cs typeface="Consolas" pitchFamily="34" charset="-120"/>
              </a:rPr>
              <a:t>    runs-on: windows-11-vs2026-arm</a:t>
            </a:r>
            <a:endParaRPr lang="en-US" sz="1300" dirty="0"/>
          </a:p>
        </p:txBody>
      </p:sp>
      <p:sp>
        <p:nvSpPr>
          <p:cNvPr id="10" name="Shape 7"/>
          <p:cNvSpPr/>
          <p:nvPr/>
        </p:nvSpPr>
        <p:spPr>
          <a:xfrm>
            <a:off x="640080" y="3931920"/>
            <a:ext cx="5760720" cy="201168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11" name="Shape 8"/>
          <p:cNvSpPr/>
          <p:nvPr/>
        </p:nvSpPr>
        <p:spPr>
          <a:xfrm>
            <a:off x="640080" y="3931920"/>
            <a:ext cx="54864" cy="2011680"/>
          </a:xfrm>
          <a:prstGeom prst="rect">
            <a:avLst/>
          </a:prstGeom>
          <a:solidFill>
            <a:srgbClr val="F85149"/>
          </a:solidFill>
          <a:ln/>
        </p:spPr>
      </p:sp>
      <p:pic>
        <p:nvPicPr>
          <p:cNvPr id="12" name="Image 1" descr="preencoded.png">    </p:cNvPr>
          <p:cNvPicPr>
            <a:picLocks noChangeAspect="1"/>
          </p:cNvPicPr>
          <p:nvPr/>
        </p:nvPicPr>
        <p:blipFill>
          <a:blip r:embed="rId2"/>
          <a:stretch>
            <a:fillRect/>
          </a:stretch>
        </p:blipFill>
        <p:spPr>
          <a:xfrm>
            <a:off x="914400" y="4169664"/>
            <a:ext cx="329184" cy="329184"/>
          </a:xfrm>
          <a:prstGeom prst="rect">
            <a:avLst/>
          </a:prstGeom>
        </p:spPr>
      </p:pic>
      <p:sp>
        <p:nvSpPr>
          <p:cNvPr id="13" name="Text 9"/>
          <p:cNvSpPr/>
          <p:nvPr/>
        </p:nvSpPr>
        <p:spPr>
          <a:xfrm>
            <a:off x="1353312" y="4169664"/>
            <a:ext cx="4773168" cy="329184"/>
          </a:xfrm>
          <a:prstGeom prst="rect">
            <a:avLst/>
          </a:prstGeom>
          <a:noFill/>
          <a:ln/>
        </p:spPr>
        <p:txBody>
          <a:bodyPr wrap="square" lIns="0" tIns="0" rIns="0" bIns="0" rtlCol="0" anchor="ctr"/>
          <a:lstStyle/>
          <a:p>
            <a:pPr indent="0" marL="0">
              <a:buNone/>
            </a:pPr>
            <a:r>
              <a:rPr lang="en-US" sz="1550" b="1" dirty="0">
                <a:solidFill>
                  <a:srgbClr val="E6EDF3"/>
                </a:solidFill>
                <a:latin typeface="Trebuchet MS" pitchFamily="34" charset="0"/>
                <a:ea typeface="Trebuchet MS" pitchFamily="34" charset="-122"/>
                <a:cs typeface="Trebuchet MS" pitchFamily="34" charset="-120"/>
              </a:rPr>
              <a:t>Breaking change ahead</a:t>
            </a:r>
            <a:endParaRPr lang="en-US" sz="1550" dirty="0"/>
          </a:p>
        </p:txBody>
      </p:sp>
      <p:sp>
        <p:nvSpPr>
          <p:cNvPr id="14" name="Text 10"/>
          <p:cNvSpPr/>
          <p:nvPr/>
        </p:nvSpPr>
        <p:spPr>
          <a:xfrm>
            <a:off x="914400" y="4590288"/>
            <a:ext cx="5212080" cy="822960"/>
          </a:xfrm>
          <a:prstGeom prst="rect">
            <a:avLst/>
          </a:prstGeom>
          <a:noFill/>
          <a:ln/>
        </p:spPr>
        <p:txBody>
          <a:bodyPr wrap="square" lIns="0" tIns="0" rIns="0" bIns="0" rtlCol="0" anchor="ctr"/>
          <a:lstStyle/>
          <a:p>
            <a:pPr indent="0" marL="0">
              <a:lnSpc>
                <a:spcPts val="1700"/>
              </a:lnSpc>
              <a:buNone/>
            </a:pPr>
            <a:r>
              <a:rPr lang="en-US" sz="1250" dirty="0">
                <a:solidFill>
                  <a:srgbClr val="E6EDF3"/>
                </a:solidFill>
                <a:latin typeface="Calibri" pitchFamily="34" charset="0"/>
                <a:ea typeface="Calibri" pitchFamily="34" charset="-122"/>
                <a:cs typeface="Calibri" pitchFamily="34" charset="-120"/>
              </a:rPr>
              <a:t>GitHub is migrating the windows-11-arm label to the VS2026 image by default. Workflows that depend on Visual Studio 2022 may break.</a:t>
            </a:r>
            <a:endParaRPr lang="en-US" sz="1250" dirty="0"/>
          </a:p>
        </p:txBody>
      </p:sp>
      <p:sp>
        <p:nvSpPr>
          <p:cNvPr id="15" name="Text 11"/>
          <p:cNvSpPr/>
          <p:nvPr/>
        </p:nvSpPr>
        <p:spPr>
          <a:xfrm>
            <a:off x="914400" y="5413248"/>
            <a:ext cx="5212080" cy="384048"/>
          </a:xfrm>
          <a:prstGeom prst="rect">
            <a:avLst/>
          </a:prstGeom>
          <a:noFill/>
          <a:ln/>
        </p:spPr>
        <p:txBody>
          <a:bodyPr wrap="square" lIns="0" tIns="0" rIns="0" bIns="0" rtlCol="0" anchor="ctr"/>
          <a:lstStyle/>
          <a:p>
            <a:pPr indent="0" marL="0">
              <a:buNone/>
            </a:pPr>
            <a:r>
              <a:rPr lang="en-US" sz="1200" i="1" dirty="0">
                <a:solidFill>
                  <a:srgbClr val="F0883E"/>
                </a:solidFill>
                <a:latin typeface="Calibri" pitchFamily="34" charset="0"/>
                <a:ea typeface="Calibri" pitchFamily="34" charset="-122"/>
                <a:cs typeface="Calibri" pitchFamily="34" charset="-120"/>
              </a:rPr>
              <a:t>Pin windows-11-vs2026-arm now, so you find problems on your schedule.</a:t>
            </a:r>
            <a:endParaRPr lang="en-US" sz="1200" dirty="0"/>
          </a:p>
        </p:txBody>
      </p:sp>
      <p:sp>
        <p:nvSpPr>
          <p:cNvPr id="16" name="Text 12"/>
          <p:cNvSpPr/>
          <p:nvPr/>
        </p:nvSpPr>
        <p:spPr>
          <a:xfrm>
            <a:off x="6766560" y="1700784"/>
            <a:ext cx="4785055" cy="292608"/>
          </a:xfrm>
          <a:prstGeom prst="rect">
            <a:avLst/>
          </a:prstGeom>
          <a:noFill/>
          <a:ln/>
        </p:spPr>
        <p:txBody>
          <a:bodyPr wrap="square" lIns="0" tIns="0" rIns="0" bIns="0" rtlCol="0" anchor="ctr"/>
          <a:lstStyle/>
          <a:p>
            <a:pPr indent="0" marL="0">
              <a:buNone/>
            </a:pPr>
            <a:r>
              <a:rPr lang="en-US" sz="1000" b="1" spc="140" kern="0" dirty="0">
                <a:solidFill>
                  <a:srgbClr val="8B949E"/>
                </a:solidFill>
                <a:latin typeface="Consolas" pitchFamily="34" charset="0"/>
                <a:ea typeface="Consolas" pitchFamily="34" charset="-122"/>
                <a:cs typeface="Consolas" pitchFamily="34" charset="-120"/>
              </a:rPr>
              <a:t>MIGRATION WINDOW</a:t>
            </a:r>
            <a:endParaRPr lang="en-US" sz="1000" dirty="0"/>
          </a:p>
        </p:txBody>
      </p:sp>
      <p:sp>
        <p:nvSpPr>
          <p:cNvPr id="17" name="Shape 13"/>
          <p:cNvSpPr/>
          <p:nvPr/>
        </p:nvSpPr>
        <p:spPr>
          <a:xfrm>
            <a:off x="6766560" y="2157984"/>
            <a:ext cx="4785055" cy="365760"/>
          </a:xfrm>
          <a:prstGeom prst="rect">
            <a:avLst/>
          </a:prstGeom>
          <a:solidFill>
            <a:srgbClr val="1C2430"/>
          </a:solidFill>
          <a:ln w="9525">
            <a:solidFill>
              <a:srgbClr val="30363D"/>
            </a:solidFill>
            <a:prstDash val="solid"/>
          </a:ln>
        </p:spPr>
      </p:sp>
      <p:sp>
        <p:nvSpPr>
          <p:cNvPr id="18" name="Shape 14"/>
          <p:cNvSpPr/>
          <p:nvPr/>
        </p:nvSpPr>
        <p:spPr>
          <a:xfrm>
            <a:off x="6766560" y="2157984"/>
            <a:ext cx="1626919" cy="365760"/>
          </a:xfrm>
          <a:prstGeom prst="rect">
            <a:avLst/>
          </a:prstGeom>
          <a:solidFill>
            <a:srgbClr val="3FB950">
              <a:alpha val="45000"/>
            </a:srgbClr>
          </a:solidFill>
          <a:ln/>
        </p:spPr>
      </p:sp>
      <p:sp>
        <p:nvSpPr>
          <p:cNvPr id="19" name="Shape 15"/>
          <p:cNvSpPr/>
          <p:nvPr/>
        </p:nvSpPr>
        <p:spPr>
          <a:xfrm>
            <a:off x="8393479" y="2157984"/>
            <a:ext cx="1531218" cy="365760"/>
          </a:xfrm>
          <a:prstGeom prst="rect">
            <a:avLst/>
          </a:prstGeom>
          <a:solidFill>
            <a:srgbClr val="F0883E"/>
          </a:solidFill>
          <a:ln/>
        </p:spPr>
      </p:sp>
      <p:sp>
        <p:nvSpPr>
          <p:cNvPr id="20" name="Shape 16"/>
          <p:cNvSpPr/>
          <p:nvPr/>
        </p:nvSpPr>
        <p:spPr>
          <a:xfrm>
            <a:off x="9924696" y="2157984"/>
            <a:ext cx="1626919" cy="365760"/>
          </a:xfrm>
          <a:prstGeom prst="rect">
            <a:avLst/>
          </a:prstGeom>
          <a:solidFill>
            <a:srgbClr val="F85149">
              <a:alpha val="65000"/>
            </a:srgbClr>
          </a:solidFill>
          <a:ln/>
        </p:spPr>
      </p:sp>
      <p:sp>
        <p:nvSpPr>
          <p:cNvPr id="21" name="Text 17"/>
          <p:cNvSpPr/>
          <p:nvPr/>
        </p:nvSpPr>
        <p:spPr>
          <a:xfrm>
            <a:off x="7844839" y="2596896"/>
            <a:ext cx="1097280" cy="256032"/>
          </a:xfrm>
          <a:prstGeom prst="rect">
            <a:avLst/>
          </a:prstGeom>
          <a:noFill/>
          <a:ln/>
        </p:spPr>
        <p:txBody>
          <a:bodyPr wrap="square" lIns="0" tIns="0" rIns="0" bIns="0" rtlCol="0" anchor="ctr"/>
          <a:lstStyle/>
          <a:p>
            <a:pPr algn="ctr" indent="0" marL="0">
              <a:buNone/>
            </a:pPr>
            <a:r>
              <a:rPr lang="en-US" sz="950" b="1" dirty="0">
                <a:solidFill>
                  <a:srgbClr val="F0883E"/>
                </a:solidFill>
                <a:latin typeface="Consolas" pitchFamily="34" charset="0"/>
                <a:ea typeface="Consolas" pitchFamily="34" charset="-122"/>
                <a:cs typeface="Consolas" pitchFamily="34" charset="-120"/>
              </a:rPr>
              <a:t>SEP 21</a:t>
            </a:r>
            <a:endParaRPr lang="en-US" sz="950" dirty="0"/>
          </a:p>
        </p:txBody>
      </p:sp>
      <p:sp>
        <p:nvSpPr>
          <p:cNvPr id="22" name="Text 18"/>
          <p:cNvSpPr/>
          <p:nvPr/>
        </p:nvSpPr>
        <p:spPr>
          <a:xfrm>
            <a:off x="9376056" y="2596896"/>
            <a:ext cx="1097280" cy="256032"/>
          </a:xfrm>
          <a:prstGeom prst="rect">
            <a:avLst/>
          </a:prstGeom>
          <a:noFill/>
          <a:ln/>
        </p:spPr>
        <p:txBody>
          <a:bodyPr wrap="square" lIns="0" tIns="0" rIns="0" bIns="0" rtlCol="0" anchor="ctr"/>
          <a:lstStyle/>
          <a:p>
            <a:pPr algn="ctr" indent="0" marL="0">
              <a:buNone/>
            </a:pPr>
            <a:r>
              <a:rPr lang="en-US" sz="950" b="1" dirty="0">
                <a:solidFill>
                  <a:srgbClr val="F85149"/>
                </a:solidFill>
                <a:latin typeface="Consolas" pitchFamily="34" charset="0"/>
                <a:ea typeface="Consolas" pitchFamily="34" charset="-122"/>
                <a:cs typeface="Consolas" pitchFamily="34" charset="-120"/>
              </a:rPr>
              <a:t>SEP 30</a:t>
            </a:r>
            <a:endParaRPr lang="en-US" sz="950" dirty="0"/>
          </a:p>
        </p:txBody>
      </p:sp>
      <p:sp>
        <p:nvSpPr>
          <p:cNvPr id="23" name="Shape 19"/>
          <p:cNvSpPr/>
          <p:nvPr/>
        </p:nvSpPr>
        <p:spPr>
          <a:xfrm>
            <a:off x="6766560" y="3145536"/>
            <a:ext cx="50292" cy="768096"/>
          </a:xfrm>
          <a:prstGeom prst="rect">
            <a:avLst/>
          </a:prstGeom>
          <a:solidFill>
            <a:srgbClr val="3FB950"/>
          </a:solidFill>
          <a:ln/>
        </p:spPr>
      </p:sp>
      <p:sp>
        <p:nvSpPr>
          <p:cNvPr id="24" name="Text 20"/>
          <p:cNvSpPr/>
          <p:nvPr/>
        </p:nvSpPr>
        <p:spPr>
          <a:xfrm>
            <a:off x="6967728" y="3145536"/>
            <a:ext cx="2926080" cy="274320"/>
          </a:xfrm>
          <a:prstGeom prst="rect">
            <a:avLst/>
          </a:prstGeom>
          <a:noFill/>
          <a:ln/>
        </p:spPr>
        <p:txBody>
          <a:bodyPr wrap="square" lIns="0" tIns="0" rIns="0" bIns="0" rtlCol="0" anchor="ctr"/>
          <a:lstStyle/>
          <a:p>
            <a:pPr indent="0" marL="0">
              <a:buNone/>
            </a:pPr>
            <a:r>
              <a:rPr lang="en-US" sz="1100" b="1" dirty="0">
                <a:solidFill>
                  <a:srgbClr val="3FB950"/>
                </a:solidFill>
                <a:latin typeface="Consolas" pitchFamily="34" charset="0"/>
                <a:ea typeface="Consolas" pitchFamily="34" charset="-122"/>
                <a:cs typeface="Consolas" pitchFamily="34" charset="-120"/>
              </a:rPr>
              <a:t>Before Sep 21</a:t>
            </a:r>
            <a:endParaRPr lang="en-US" sz="1100" dirty="0"/>
          </a:p>
        </p:txBody>
      </p:sp>
      <p:sp>
        <p:nvSpPr>
          <p:cNvPr id="25" name="Text 21"/>
          <p:cNvSpPr/>
          <p:nvPr/>
        </p:nvSpPr>
        <p:spPr>
          <a:xfrm>
            <a:off x="6967728" y="3419856"/>
            <a:ext cx="4529023" cy="512064"/>
          </a:xfrm>
          <a:prstGeom prst="rect">
            <a:avLst/>
          </a:prstGeom>
          <a:noFill/>
          <a:ln/>
        </p:spPr>
        <p:txBody>
          <a:bodyPr wrap="square" lIns="0" tIns="0" rIns="0" bIns="0" rtlCol="0" anchor="ctr"/>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windows-11-arm still resolves to the Visual Studio 2022 image.</a:t>
            </a:r>
            <a:endParaRPr lang="en-US" sz="1200" dirty="0"/>
          </a:p>
        </p:txBody>
      </p:sp>
      <p:sp>
        <p:nvSpPr>
          <p:cNvPr id="26" name="Shape 22"/>
          <p:cNvSpPr/>
          <p:nvPr/>
        </p:nvSpPr>
        <p:spPr>
          <a:xfrm>
            <a:off x="6766560" y="4078224"/>
            <a:ext cx="50292" cy="768096"/>
          </a:xfrm>
          <a:prstGeom prst="rect">
            <a:avLst/>
          </a:prstGeom>
          <a:solidFill>
            <a:srgbClr val="F0883E"/>
          </a:solidFill>
          <a:ln/>
        </p:spPr>
      </p:sp>
      <p:sp>
        <p:nvSpPr>
          <p:cNvPr id="27" name="Text 23"/>
          <p:cNvSpPr/>
          <p:nvPr/>
        </p:nvSpPr>
        <p:spPr>
          <a:xfrm>
            <a:off x="6967728" y="4078224"/>
            <a:ext cx="2926080" cy="274320"/>
          </a:xfrm>
          <a:prstGeom prst="rect">
            <a:avLst/>
          </a:prstGeom>
          <a:noFill/>
          <a:ln/>
        </p:spPr>
        <p:txBody>
          <a:bodyPr wrap="square" lIns="0" tIns="0" rIns="0" bIns="0" rtlCol="0" anchor="ctr"/>
          <a:lstStyle/>
          <a:p>
            <a:pPr indent="0" marL="0">
              <a:buNone/>
            </a:pPr>
            <a:r>
              <a:rPr lang="en-US" sz="1100" b="1" dirty="0">
                <a:solidFill>
                  <a:srgbClr val="F0883E"/>
                </a:solidFill>
                <a:latin typeface="Consolas" pitchFamily="34" charset="0"/>
                <a:ea typeface="Consolas" pitchFamily="34" charset="-122"/>
                <a:cs typeface="Consolas" pitchFamily="34" charset="-120"/>
              </a:rPr>
              <a:t>Sep 21 - 30</a:t>
            </a:r>
            <a:endParaRPr lang="en-US" sz="1100" dirty="0"/>
          </a:p>
        </p:txBody>
      </p:sp>
      <p:sp>
        <p:nvSpPr>
          <p:cNvPr id="28" name="Text 24"/>
          <p:cNvSpPr/>
          <p:nvPr/>
        </p:nvSpPr>
        <p:spPr>
          <a:xfrm>
            <a:off x="6967728" y="4352544"/>
            <a:ext cx="4529023" cy="512064"/>
          </a:xfrm>
          <a:prstGeom prst="rect">
            <a:avLst/>
          </a:prstGeom>
          <a:noFill/>
          <a:ln/>
        </p:spPr>
        <p:txBody>
          <a:bodyPr wrap="square" lIns="0" tIns="0" rIns="0" bIns="0" rtlCol="0" anchor="ctr"/>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GitHub gradually shifts the label over to VS2026.</a:t>
            </a:r>
            <a:endParaRPr lang="en-US" sz="1200" dirty="0"/>
          </a:p>
        </p:txBody>
      </p:sp>
      <p:sp>
        <p:nvSpPr>
          <p:cNvPr id="29" name="Shape 25"/>
          <p:cNvSpPr/>
          <p:nvPr/>
        </p:nvSpPr>
        <p:spPr>
          <a:xfrm>
            <a:off x="6766560" y="5010912"/>
            <a:ext cx="50292" cy="768096"/>
          </a:xfrm>
          <a:prstGeom prst="rect">
            <a:avLst/>
          </a:prstGeom>
          <a:solidFill>
            <a:srgbClr val="F85149"/>
          </a:solidFill>
          <a:ln/>
        </p:spPr>
      </p:sp>
      <p:sp>
        <p:nvSpPr>
          <p:cNvPr id="30" name="Text 26"/>
          <p:cNvSpPr/>
          <p:nvPr/>
        </p:nvSpPr>
        <p:spPr>
          <a:xfrm>
            <a:off x="6967728" y="5010912"/>
            <a:ext cx="2926080" cy="274320"/>
          </a:xfrm>
          <a:prstGeom prst="rect">
            <a:avLst/>
          </a:prstGeom>
          <a:noFill/>
          <a:ln/>
        </p:spPr>
        <p:txBody>
          <a:bodyPr wrap="square" lIns="0" tIns="0" rIns="0" bIns="0" rtlCol="0" anchor="ctr"/>
          <a:lstStyle/>
          <a:p>
            <a:pPr indent="0" marL="0">
              <a:buNone/>
            </a:pPr>
            <a:r>
              <a:rPr lang="en-US" sz="1100" b="1" dirty="0">
                <a:solidFill>
                  <a:srgbClr val="F85149"/>
                </a:solidFill>
                <a:latin typeface="Consolas" pitchFamily="34" charset="0"/>
                <a:ea typeface="Consolas" pitchFamily="34" charset="-122"/>
                <a:cs typeface="Consolas" pitchFamily="34" charset="-120"/>
              </a:rPr>
              <a:t>After Sep 30</a:t>
            </a:r>
            <a:endParaRPr lang="en-US" sz="1100" dirty="0"/>
          </a:p>
        </p:txBody>
      </p:sp>
      <p:sp>
        <p:nvSpPr>
          <p:cNvPr id="31" name="Text 27"/>
          <p:cNvSpPr/>
          <p:nvPr/>
        </p:nvSpPr>
        <p:spPr>
          <a:xfrm>
            <a:off x="6967728" y="5285232"/>
            <a:ext cx="4529023" cy="512064"/>
          </a:xfrm>
          <a:prstGeom prst="rect">
            <a:avLst/>
          </a:prstGeom>
          <a:noFill/>
          <a:ln/>
        </p:spPr>
        <p:txBody>
          <a:bodyPr wrap="square" lIns="0" tIns="0" rIns="0" bIns="0" rtlCol="0" anchor="ctr"/>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windows-11-arm is VS2026. Every unpinned job gets the new image.</a:t>
            </a:r>
            <a:endParaRPr lang="en-US" sz="1200" dirty="0"/>
          </a:p>
        </p:txBody>
      </p:sp>
      <p:sp>
        <p:nvSpPr>
          <p:cNvPr id="32" name="Text 28"/>
          <p:cNvSpPr/>
          <p:nvPr/>
        </p:nvSpPr>
        <p:spPr>
          <a:xfrm>
            <a:off x="640080" y="6309360"/>
            <a:ext cx="6949440" cy="274320"/>
          </a:xfrm>
          <a:prstGeom prst="rect">
            <a:avLst/>
          </a:prstGeom>
          <a:noFill/>
          <a:ln/>
        </p:spPr>
        <p:txBody>
          <a:bodyPr wrap="square" lIns="0" tIns="0" rIns="0" bIns="0" rtlCol="0" anchor="ctr"/>
          <a:lstStyle/>
          <a:p>
            <a:pPr indent="0" marL="0">
              <a:buNone/>
            </a:pPr>
            <a:r>
              <a:rPr lang="en-US" sz="900" dirty="0">
                <a:solidFill>
                  <a:srgbClr val="8B949E"/>
                </a:solidFill>
                <a:latin typeface="Consolas" pitchFamily="34" charset="0"/>
                <a:ea typeface="Consolas" pitchFamily="34" charset="-122"/>
                <a:cs typeface="Consolas" pitchFamily="34" charset="-120"/>
              </a:rPr>
              <a:t>changelog: windows-11-arm64-vs2026-image-generally-available</a:t>
            </a:r>
            <a:endParaRPr lang="en-US" sz="900" dirty="0"/>
          </a:p>
        </p:txBody>
      </p:sp>
      <p:sp>
        <p:nvSpPr>
          <p:cNvPr id="33" name="Text 29"/>
          <p:cNvSpPr/>
          <p:nvPr/>
        </p:nvSpPr>
        <p:spPr>
          <a:xfrm>
            <a:off x="7345375" y="6309360"/>
            <a:ext cx="4206240" cy="27432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github.com/actions/runner-images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640080" y="475488"/>
            <a:ext cx="50292" cy="219456"/>
          </a:xfrm>
          <a:prstGeom prst="rect">
            <a:avLst/>
          </a:prstGeom>
          <a:solidFill>
            <a:srgbClr val="A371F7"/>
          </a:solidFill>
          <a:ln/>
        </p:spPr>
      </p:sp>
      <p:sp>
        <p:nvSpPr>
          <p:cNvPr id="3" name="Text 1"/>
          <p:cNvSpPr/>
          <p:nvPr/>
        </p:nvSpPr>
        <p:spPr>
          <a:xfrm>
            <a:off x="786384" y="438912"/>
            <a:ext cx="7772400" cy="292608"/>
          </a:xfrm>
          <a:prstGeom prst="rect">
            <a:avLst/>
          </a:prstGeom>
          <a:noFill/>
          <a:ln/>
        </p:spPr>
        <p:txBody>
          <a:bodyPr wrap="square" lIns="0" tIns="0" rIns="0" bIns="0" rtlCol="0" anchor="ctr"/>
          <a:lstStyle/>
          <a:p>
            <a:pPr indent="0" marL="0">
              <a:buNone/>
            </a:pPr>
            <a:r>
              <a:rPr lang="en-US" sz="1050" b="1" spc="140" kern="0" dirty="0">
                <a:solidFill>
                  <a:srgbClr val="A371F7"/>
                </a:solidFill>
                <a:latin typeface="Consolas" pitchFamily="34" charset="0"/>
                <a:ea typeface="Consolas" pitchFamily="34" charset="-122"/>
                <a:cs typeface="Consolas" pitchFamily="34" charset="-120"/>
              </a:rPr>
              <a:t>AUG 20, 2026  /  CODE QUALITY</a:t>
            </a:r>
            <a:endParaRPr lang="en-US" sz="1050" dirty="0"/>
          </a:p>
        </p:txBody>
      </p:sp>
      <p:sp>
        <p:nvSpPr>
          <p:cNvPr id="4" name="Text 2"/>
          <p:cNvSpPr/>
          <p:nvPr/>
        </p:nvSpPr>
        <p:spPr>
          <a:xfrm>
            <a:off x="640080" y="786384"/>
            <a:ext cx="10911535" cy="713232"/>
          </a:xfrm>
          <a:prstGeom prst="rect">
            <a:avLst/>
          </a:prstGeom>
          <a:noFill/>
          <a:ln/>
        </p:spPr>
        <p:txBody>
          <a:bodyPr wrap="square" lIns="0" tIns="0" rIns="0" bIns="0" rtlCol="0" anchor="ctr"/>
          <a:lstStyle/>
          <a:p>
            <a:pPr indent="0" marL="0">
              <a:buNone/>
            </a:pPr>
            <a:r>
              <a:rPr lang="en-US" sz="3300" b="1" dirty="0">
                <a:solidFill>
                  <a:srgbClr val="E6EDF3"/>
                </a:solidFill>
                <a:latin typeface="Trebuchet MS" pitchFamily="34" charset="0"/>
                <a:ea typeface="Trebuchet MS" pitchFamily="34" charset="-122"/>
                <a:cs typeface="Trebuchet MS" pitchFamily="34" charset="-120"/>
              </a:rPr>
              <a:t>Code Quality now runs on its own Actions path</a:t>
            </a:r>
            <a:endParaRPr lang="en-US" sz="3300" dirty="0"/>
          </a:p>
        </p:txBody>
      </p:sp>
      <p:sp>
        <p:nvSpPr>
          <p:cNvPr id="5" name="Text 3"/>
          <p:cNvSpPr/>
          <p:nvPr/>
        </p:nvSpPr>
        <p:spPr>
          <a:xfrm>
            <a:off x="640080" y="1609344"/>
            <a:ext cx="6858000" cy="548640"/>
          </a:xfrm>
          <a:prstGeom prst="rect">
            <a:avLst/>
          </a:prstGeom>
          <a:noFill/>
          <a:ln/>
        </p:spPr>
        <p:txBody>
          <a:bodyPr wrap="square" lIns="0" tIns="0" rIns="0" bIns="0" rtlCol="0" anchor="ctr"/>
          <a:lstStyle/>
          <a:p>
            <a:pPr indent="0" marL="0">
              <a:lnSpc>
                <a:spcPts val="1800"/>
              </a:lnSpc>
              <a:buNone/>
            </a:pPr>
            <a:r>
              <a:rPr lang="en-US" sz="1350" dirty="0">
                <a:solidFill>
                  <a:srgbClr val="8B949E"/>
                </a:solidFill>
                <a:latin typeface="Calibri" pitchFamily="34" charset="0"/>
                <a:ea typeface="Calibri" pitchFamily="34" charset="-122"/>
                <a:cs typeface="Calibri" pitchFamily="34" charset="-120"/>
              </a:rPr>
              <a:t>Code Quality used to share a check path and an actor with code scanning. They are separate now, so the two can be told apart in logs, filters and billing.</a:t>
            </a:r>
            <a:endParaRPr lang="en-US" sz="1350" dirty="0"/>
          </a:p>
        </p:txBody>
      </p:sp>
      <p:sp>
        <p:nvSpPr>
          <p:cNvPr id="6" name="Shape 4"/>
          <p:cNvSpPr/>
          <p:nvPr/>
        </p:nvSpPr>
        <p:spPr>
          <a:xfrm>
            <a:off x="7708392" y="1700784"/>
            <a:ext cx="3840480" cy="292608"/>
          </a:xfrm>
          <a:prstGeom prst="roundRect">
            <a:avLst>
              <a:gd name="adj" fmla="val 50000"/>
            </a:avLst>
          </a:prstGeom>
          <a:solidFill>
            <a:srgbClr val="1C2430"/>
          </a:solidFill>
          <a:ln w="12700">
            <a:solidFill>
              <a:srgbClr val="A371F7"/>
            </a:solidFill>
            <a:prstDash val="solid"/>
          </a:ln>
        </p:spPr>
      </p:sp>
      <p:sp>
        <p:nvSpPr>
          <p:cNvPr id="7" name="Text 5"/>
          <p:cNvSpPr/>
          <p:nvPr/>
        </p:nvSpPr>
        <p:spPr>
          <a:xfrm>
            <a:off x="7708392" y="1700784"/>
            <a:ext cx="3840480" cy="292608"/>
          </a:xfrm>
          <a:prstGeom prst="rect">
            <a:avLst/>
          </a:prstGeom>
          <a:noFill/>
          <a:ln/>
        </p:spPr>
        <p:txBody>
          <a:bodyPr wrap="square" lIns="0" tIns="0" rIns="0" bIns="0" rtlCol="0" anchor="ctr"/>
          <a:lstStyle/>
          <a:p>
            <a:pPr algn="ctr" indent="0" marL="0">
              <a:buNone/>
            </a:pPr>
            <a:r>
              <a:rPr lang="en-US" sz="950" b="1" dirty="0">
                <a:solidFill>
                  <a:srgbClr val="A371F7"/>
                </a:solidFill>
                <a:latin typeface="Consolas" pitchFamily="34" charset="0"/>
                <a:ea typeface="Consolas" pitchFamily="34" charset="-122"/>
                <a:cs typeface="Consolas" pitchFamily="34" charset="-120"/>
              </a:rPr>
              <a:t>GHEC  ·  TEAM  ·  DATA RESIDENCY</a:t>
            </a:r>
            <a:endParaRPr lang="en-US" sz="950" dirty="0"/>
          </a:p>
        </p:txBody>
      </p:sp>
      <p:sp>
        <p:nvSpPr>
          <p:cNvPr id="8" name="Shape 6"/>
          <p:cNvSpPr/>
          <p:nvPr/>
        </p:nvSpPr>
        <p:spPr>
          <a:xfrm>
            <a:off x="640080" y="2377440"/>
            <a:ext cx="5272888" cy="1700784"/>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9" name="Shape 7"/>
          <p:cNvSpPr/>
          <p:nvPr/>
        </p:nvSpPr>
        <p:spPr>
          <a:xfrm>
            <a:off x="640080" y="2377440"/>
            <a:ext cx="54864" cy="1700784"/>
          </a:xfrm>
          <a:prstGeom prst="rect">
            <a:avLst/>
          </a:prstGeom>
          <a:solidFill>
            <a:srgbClr val="8B949E"/>
          </a:solidFill>
          <a:ln/>
        </p:spPr>
      </p:sp>
      <p:sp>
        <p:nvSpPr>
          <p:cNvPr id="10" name="Shape 8"/>
          <p:cNvSpPr/>
          <p:nvPr/>
        </p:nvSpPr>
        <p:spPr>
          <a:xfrm>
            <a:off x="6278728" y="2377440"/>
            <a:ext cx="5272888" cy="1700784"/>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11" name="Shape 9"/>
          <p:cNvSpPr/>
          <p:nvPr/>
        </p:nvSpPr>
        <p:spPr>
          <a:xfrm>
            <a:off x="6278728" y="2377440"/>
            <a:ext cx="54864" cy="1700784"/>
          </a:xfrm>
          <a:prstGeom prst="rect">
            <a:avLst/>
          </a:prstGeom>
          <a:solidFill>
            <a:srgbClr val="A371F7"/>
          </a:solidFill>
          <a:ln/>
        </p:spPr>
      </p:sp>
      <p:sp>
        <p:nvSpPr>
          <p:cNvPr id="12" name="Text 10"/>
          <p:cNvSpPr/>
          <p:nvPr/>
        </p:nvSpPr>
        <p:spPr>
          <a:xfrm>
            <a:off x="950976" y="2542032"/>
            <a:ext cx="2743200" cy="274320"/>
          </a:xfrm>
          <a:prstGeom prst="rect">
            <a:avLst/>
          </a:prstGeom>
          <a:noFill/>
          <a:ln/>
        </p:spPr>
        <p:txBody>
          <a:bodyPr wrap="square" lIns="0" tIns="0" rIns="0" bIns="0" rtlCol="0" anchor="ctr"/>
          <a:lstStyle/>
          <a:p>
            <a:pPr indent="0" marL="0">
              <a:buNone/>
            </a:pPr>
            <a:r>
              <a:rPr lang="en-US" sz="1000" b="1" spc="140" kern="0" dirty="0">
                <a:solidFill>
                  <a:srgbClr val="8B949E"/>
                </a:solidFill>
                <a:latin typeface="Consolas" pitchFamily="34" charset="0"/>
                <a:ea typeface="Consolas" pitchFamily="34" charset="-122"/>
                <a:cs typeface="Consolas" pitchFamily="34" charset="-120"/>
              </a:rPr>
              <a:t>BEFORE</a:t>
            </a:r>
            <a:endParaRPr lang="en-US" sz="1000" dirty="0"/>
          </a:p>
        </p:txBody>
      </p:sp>
      <p:sp>
        <p:nvSpPr>
          <p:cNvPr id="13" name="Text 11"/>
          <p:cNvSpPr/>
          <p:nvPr/>
        </p:nvSpPr>
        <p:spPr>
          <a:xfrm>
            <a:off x="6589624" y="2542032"/>
            <a:ext cx="2743200" cy="274320"/>
          </a:xfrm>
          <a:prstGeom prst="rect">
            <a:avLst/>
          </a:prstGeom>
          <a:noFill/>
          <a:ln/>
        </p:spPr>
        <p:txBody>
          <a:bodyPr wrap="square" lIns="0" tIns="0" rIns="0" bIns="0" rtlCol="0" anchor="ctr"/>
          <a:lstStyle/>
          <a:p>
            <a:pPr indent="0" marL="0">
              <a:buNone/>
            </a:pPr>
            <a:r>
              <a:rPr lang="en-US" sz="1000" b="1" spc="140" kern="0" dirty="0">
                <a:solidFill>
                  <a:srgbClr val="A371F7"/>
                </a:solidFill>
                <a:latin typeface="Consolas" pitchFamily="34" charset="0"/>
                <a:ea typeface="Consolas" pitchFamily="34" charset="-122"/>
                <a:cs typeface="Consolas" pitchFamily="34" charset="-120"/>
              </a:rPr>
              <a:t>NOW</a:t>
            </a:r>
            <a:endParaRPr lang="en-US" sz="1000" dirty="0"/>
          </a:p>
        </p:txBody>
      </p:sp>
      <p:sp>
        <p:nvSpPr>
          <p:cNvPr id="14" name="Text 12"/>
          <p:cNvSpPr/>
          <p:nvPr/>
        </p:nvSpPr>
        <p:spPr>
          <a:xfrm>
            <a:off x="950976" y="2926080"/>
            <a:ext cx="1280160" cy="365760"/>
          </a:xfrm>
          <a:prstGeom prst="rect">
            <a:avLst/>
          </a:prstGeom>
          <a:noFill/>
          <a:ln/>
        </p:spPr>
        <p:txBody>
          <a:bodyPr wrap="square" lIns="0" tIns="0" rIns="0" bIns="0" rtlCol="0" anchor="ctr"/>
          <a:lstStyle/>
          <a:p>
            <a:pPr indent="0" marL="0">
              <a:buNone/>
            </a:pPr>
            <a:r>
              <a:rPr lang="en-US" sz="1150" dirty="0">
                <a:solidFill>
                  <a:srgbClr val="8B949E"/>
                </a:solidFill>
                <a:latin typeface="Calibri" pitchFamily="34" charset="0"/>
                <a:ea typeface="Calibri" pitchFamily="34" charset="-122"/>
                <a:cs typeface="Calibri" pitchFamily="34" charset="-120"/>
              </a:rPr>
              <a:t>Check path</a:t>
            </a:r>
            <a:endParaRPr lang="en-US" sz="1150" dirty="0"/>
          </a:p>
        </p:txBody>
      </p:sp>
      <p:sp>
        <p:nvSpPr>
          <p:cNvPr id="15" name="Text 13"/>
          <p:cNvSpPr/>
          <p:nvPr/>
        </p:nvSpPr>
        <p:spPr>
          <a:xfrm>
            <a:off x="2231136" y="2926080"/>
            <a:ext cx="3370936" cy="365760"/>
          </a:xfrm>
          <a:prstGeom prst="rect">
            <a:avLst/>
          </a:prstGeom>
          <a:noFill/>
          <a:ln/>
        </p:spPr>
        <p:txBody>
          <a:bodyPr wrap="square" lIns="0" tIns="0" rIns="0" bIns="0" rtlCol="0" anchor="ctr"/>
          <a:lstStyle/>
          <a:p>
            <a:pPr indent="0" marL="0">
              <a:buNone/>
            </a:pPr>
            <a:r>
              <a:rPr lang="en-US" sz="1050" dirty="0">
                <a:solidFill>
                  <a:srgbClr val="8B949E"/>
                </a:solidFill>
                <a:latin typeface="Consolas" pitchFamily="34" charset="0"/>
                <a:ea typeface="Consolas" pitchFamily="34" charset="-122"/>
                <a:cs typeface="Consolas" pitchFamily="34" charset="-120"/>
              </a:rPr>
              <a:t>dynamic/github-code-scanning/codeql</a:t>
            </a:r>
            <a:endParaRPr lang="en-US" sz="1050" dirty="0"/>
          </a:p>
        </p:txBody>
      </p:sp>
      <p:sp>
        <p:nvSpPr>
          <p:cNvPr id="16" name="Text 14"/>
          <p:cNvSpPr/>
          <p:nvPr/>
        </p:nvSpPr>
        <p:spPr>
          <a:xfrm>
            <a:off x="6589624" y="2926080"/>
            <a:ext cx="1280160" cy="365760"/>
          </a:xfrm>
          <a:prstGeom prst="rect">
            <a:avLst/>
          </a:prstGeom>
          <a:noFill/>
          <a:ln/>
        </p:spPr>
        <p:txBody>
          <a:bodyPr wrap="square" lIns="0" tIns="0" rIns="0" bIns="0" rtlCol="0" anchor="ctr"/>
          <a:lstStyle/>
          <a:p>
            <a:pPr indent="0" marL="0">
              <a:buNone/>
            </a:pPr>
            <a:r>
              <a:rPr lang="en-US" sz="1150" dirty="0">
                <a:solidFill>
                  <a:srgbClr val="8B949E"/>
                </a:solidFill>
                <a:latin typeface="Calibri" pitchFamily="34" charset="0"/>
                <a:ea typeface="Calibri" pitchFamily="34" charset="-122"/>
                <a:cs typeface="Calibri" pitchFamily="34" charset="-120"/>
              </a:rPr>
              <a:t>Check path</a:t>
            </a:r>
            <a:endParaRPr lang="en-US" sz="1150" dirty="0"/>
          </a:p>
        </p:txBody>
      </p:sp>
      <p:sp>
        <p:nvSpPr>
          <p:cNvPr id="17" name="Text 15"/>
          <p:cNvSpPr/>
          <p:nvPr/>
        </p:nvSpPr>
        <p:spPr>
          <a:xfrm>
            <a:off x="7869784" y="2926080"/>
            <a:ext cx="3370936" cy="365760"/>
          </a:xfrm>
          <a:prstGeom prst="rect">
            <a:avLst/>
          </a:prstGeom>
          <a:noFill/>
          <a:ln/>
        </p:spPr>
        <p:txBody>
          <a:bodyPr wrap="square" lIns="0" tIns="0" rIns="0" bIns="0" rtlCol="0" anchor="ctr"/>
          <a:lstStyle/>
          <a:p>
            <a:pPr indent="0" marL="0">
              <a:buNone/>
            </a:pPr>
            <a:r>
              <a:rPr lang="en-US" sz="1050" b="1" dirty="0">
                <a:solidFill>
                  <a:srgbClr val="E6EDF3"/>
                </a:solidFill>
                <a:latin typeface="Consolas" pitchFamily="34" charset="0"/>
                <a:ea typeface="Consolas" pitchFamily="34" charset="-122"/>
                <a:cs typeface="Consolas" pitchFamily="34" charset="-120"/>
              </a:rPr>
              <a:t>dynamic/github-code-quality/codeql</a:t>
            </a:r>
            <a:endParaRPr lang="en-US" sz="1050" dirty="0"/>
          </a:p>
        </p:txBody>
      </p:sp>
      <p:sp>
        <p:nvSpPr>
          <p:cNvPr id="18" name="Text 16"/>
          <p:cNvSpPr/>
          <p:nvPr/>
        </p:nvSpPr>
        <p:spPr>
          <a:xfrm>
            <a:off x="950976" y="3474720"/>
            <a:ext cx="1280160" cy="365760"/>
          </a:xfrm>
          <a:prstGeom prst="rect">
            <a:avLst/>
          </a:prstGeom>
          <a:noFill/>
          <a:ln/>
        </p:spPr>
        <p:txBody>
          <a:bodyPr wrap="square" lIns="0" tIns="0" rIns="0" bIns="0" rtlCol="0" anchor="ctr"/>
          <a:lstStyle/>
          <a:p>
            <a:pPr indent="0" marL="0">
              <a:buNone/>
            </a:pPr>
            <a:r>
              <a:rPr lang="en-US" sz="1150" dirty="0">
                <a:solidFill>
                  <a:srgbClr val="8B949E"/>
                </a:solidFill>
                <a:latin typeface="Calibri" pitchFamily="34" charset="0"/>
                <a:ea typeface="Calibri" pitchFamily="34" charset="-122"/>
                <a:cs typeface="Calibri" pitchFamily="34" charset="-120"/>
              </a:rPr>
              <a:t>Actor</a:t>
            </a:r>
            <a:endParaRPr lang="en-US" sz="1150" dirty="0"/>
          </a:p>
        </p:txBody>
      </p:sp>
      <p:sp>
        <p:nvSpPr>
          <p:cNvPr id="19" name="Text 17"/>
          <p:cNvSpPr/>
          <p:nvPr/>
        </p:nvSpPr>
        <p:spPr>
          <a:xfrm>
            <a:off x="2231136" y="3474720"/>
            <a:ext cx="3370936" cy="365760"/>
          </a:xfrm>
          <a:prstGeom prst="rect">
            <a:avLst/>
          </a:prstGeom>
          <a:noFill/>
          <a:ln/>
        </p:spPr>
        <p:txBody>
          <a:bodyPr wrap="square" lIns="0" tIns="0" rIns="0" bIns="0" rtlCol="0" anchor="ctr"/>
          <a:lstStyle/>
          <a:p>
            <a:pPr indent="0" marL="0">
              <a:buNone/>
            </a:pPr>
            <a:r>
              <a:rPr lang="en-US" sz="1050" dirty="0">
                <a:solidFill>
                  <a:srgbClr val="8B949E"/>
                </a:solidFill>
                <a:latin typeface="Consolas" pitchFamily="34" charset="0"/>
                <a:ea typeface="Consolas" pitchFamily="34" charset="-122"/>
                <a:cs typeface="Consolas" pitchFamily="34" charset="-120"/>
              </a:rPr>
              <a:t>github-advanced-security</a:t>
            </a:r>
            <a:endParaRPr lang="en-US" sz="1050" dirty="0"/>
          </a:p>
        </p:txBody>
      </p:sp>
      <p:sp>
        <p:nvSpPr>
          <p:cNvPr id="20" name="Text 18"/>
          <p:cNvSpPr/>
          <p:nvPr/>
        </p:nvSpPr>
        <p:spPr>
          <a:xfrm>
            <a:off x="6589624" y="3474720"/>
            <a:ext cx="1280160" cy="365760"/>
          </a:xfrm>
          <a:prstGeom prst="rect">
            <a:avLst/>
          </a:prstGeom>
          <a:noFill/>
          <a:ln/>
        </p:spPr>
        <p:txBody>
          <a:bodyPr wrap="square" lIns="0" tIns="0" rIns="0" bIns="0" rtlCol="0" anchor="ctr"/>
          <a:lstStyle/>
          <a:p>
            <a:pPr indent="0" marL="0">
              <a:buNone/>
            </a:pPr>
            <a:r>
              <a:rPr lang="en-US" sz="1150" dirty="0">
                <a:solidFill>
                  <a:srgbClr val="8B949E"/>
                </a:solidFill>
                <a:latin typeface="Calibri" pitchFamily="34" charset="0"/>
                <a:ea typeface="Calibri" pitchFamily="34" charset="-122"/>
                <a:cs typeface="Calibri" pitchFamily="34" charset="-120"/>
              </a:rPr>
              <a:t>Actor</a:t>
            </a:r>
            <a:endParaRPr lang="en-US" sz="1150" dirty="0"/>
          </a:p>
        </p:txBody>
      </p:sp>
      <p:sp>
        <p:nvSpPr>
          <p:cNvPr id="21" name="Text 19"/>
          <p:cNvSpPr/>
          <p:nvPr/>
        </p:nvSpPr>
        <p:spPr>
          <a:xfrm>
            <a:off x="7869784" y="3474720"/>
            <a:ext cx="3370936" cy="365760"/>
          </a:xfrm>
          <a:prstGeom prst="rect">
            <a:avLst/>
          </a:prstGeom>
          <a:noFill/>
          <a:ln/>
        </p:spPr>
        <p:txBody>
          <a:bodyPr wrap="square" lIns="0" tIns="0" rIns="0" bIns="0" rtlCol="0" anchor="ctr"/>
          <a:lstStyle/>
          <a:p>
            <a:pPr indent="0" marL="0">
              <a:buNone/>
            </a:pPr>
            <a:r>
              <a:rPr lang="en-US" sz="1050" b="1" dirty="0">
                <a:solidFill>
                  <a:srgbClr val="E6EDF3"/>
                </a:solidFill>
                <a:latin typeface="Consolas" pitchFamily="34" charset="0"/>
                <a:ea typeface="Consolas" pitchFamily="34" charset="-122"/>
                <a:cs typeface="Consolas" pitchFamily="34" charset="-120"/>
              </a:rPr>
              <a:t>github-code-quality</a:t>
            </a:r>
            <a:endParaRPr lang="en-US" sz="1050" dirty="0"/>
          </a:p>
        </p:txBody>
      </p:sp>
      <p:sp>
        <p:nvSpPr>
          <p:cNvPr id="22" name="Shape 20"/>
          <p:cNvSpPr/>
          <p:nvPr/>
        </p:nvSpPr>
        <p:spPr>
          <a:xfrm>
            <a:off x="640080" y="4352544"/>
            <a:ext cx="3393338" cy="1737360"/>
          </a:xfrm>
          <a:prstGeom prst="rect">
            <a:avLst/>
          </a:prstGeom>
          <a:solidFill>
            <a:srgbClr val="1C2430"/>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3" name="Shape 21"/>
          <p:cNvSpPr/>
          <p:nvPr/>
        </p:nvSpPr>
        <p:spPr>
          <a:xfrm>
            <a:off x="640080" y="4352544"/>
            <a:ext cx="54864" cy="1737360"/>
          </a:xfrm>
          <a:prstGeom prst="rect">
            <a:avLst/>
          </a:prstGeom>
          <a:solidFill>
            <a:srgbClr val="3FB950"/>
          </a:solidFill>
          <a:ln/>
        </p:spPr>
      </p:sp>
      <p:pic>
        <p:nvPicPr>
          <p:cNvPr id="24" name="Image 0" descr="preencoded.png">    </p:cNvPr>
          <p:cNvPicPr>
            <a:picLocks noChangeAspect="1"/>
          </p:cNvPicPr>
          <p:nvPr/>
        </p:nvPicPr>
        <p:blipFill>
          <a:blip r:embed="rId1"/>
          <a:stretch>
            <a:fillRect/>
          </a:stretch>
        </p:blipFill>
        <p:spPr>
          <a:xfrm>
            <a:off x="914400" y="4590288"/>
            <a:ext cx="310896" cy="310896"/>
          </a:xfrm>
          <a:prstGeom prst="rect">
            <a:avLst/>
          </a:prstGeom>
        </p:spPr>
      </p:pic>
      <p:sp>
        <p:nvSpPr>
          <p:cNvPr id="25" name="Text 22"/>
          <p:cNvSpPr/>
          <p:nvPr/>
        </p:nvSpPr>
        <p:spPr>
          <a:xfrm>
            <a:off x="914400" y="4992624"/>
            <a:ext cx="2844698" cy="310896"/>
          </a:xfrm>
          <a:prstGeom prst="rect">
            <a:avLst/>
          </a:prstGeom>
          <a:noFill/>
          <a:ln/>
        </p:spPr>
        <p:txBody>
          <a:bodyPr wrap="square" lIns="0" tIns="0" rIns="0" bIns="0" rtlCol="0" anchor="ctr"/>
          <a:lstStyle/>
          <a:p>
            <a:pPr indent="0" marL="0">
              <a:buNone/>
            </a:pPr>
            <a:r>
              <a:rPr lang="en-US" sz="1450" b="1" dirty="0">
                <a:solidFill>
                  <a:srgbClr val="E6EDF3"/>
                </a:solidFill>
                <a:latin typeface="Trebuchet MS" pitchFamily="34" charset="0"/>
                <a:ea typeface="Trebuchet MS" pitchFamily="34" charset="-122"/>
                <a:cs typeface="Trebuchet MS" pitchFamily="34" charset="-120"/>
              </a:rPr>
              <a:t>Nothing to reconfigure</a:t>
            </a:r>
            <a:endParaRPr lang="en-US" sz="1450" dirty="0"/>
          </a:p>
        </p:txBody>
      </p:sp>
      <p:sp>
        <p:nvSpPr>
          <p:cNvPr id="26" name="Text 23"/>
          <p:cNvSpPr/>
          <p:nvPr/>
        </p:nvSpPr>
        <p:spPr>
          <a:xfrm>
            <a:off x="914400" y="5358384"/>
            <a:ext cx="2844698" cy="640080"/>
          </a:xfrm>
          <a:prstGeom prst="rect">
            <a:avLst/>
          </a:prstGeom>
          <a:noFill/>
          <a:ln/>
        </p:spPr>
        <p:txBody>
          <a:bodyPr wrap="square" lIns="0" tIns="0" rIns="0" bIns="0" rtlCol="0" anchor="t"/>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Code Quality itself keeps working. The change is transparent to the scan.</a:t>
            </a:r>
            <a:endParaRPr lang="en-US" sz="1200" dirty="0"/>
          </a:p>
        </p:txBody>
      </p:sp>
      <p:sp>
        <p:nvSpPr>
          <p:cNvPr id="27" name="Shape 24"/>
          <p:cNvSpPr/>
          <p:nvPr/>
        </p:nvSpPr>
        <p:spPr>
          <a:xfrm>
            <a:off x="4399178" y="4352544"/>
            <a:ext cx="3393338" cy="1737360"/>
          </a:xfrm>
          <a:prstGeom prst="rect">
            <a:avLst/>
          </a:prstGeom>
          <a:solidFill>
            <a:srgbClr val="1C2430"/>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8" name="Shape 25"/>
          <p:cNvSpPr/>
          <p:nvPr/>
        </p:nvSpPr>
        <p:spPr>
          <a:xfrm>
            <a:off x="4399178" y="4352544"/>
            <a:ext cx="54864" cy="1737360"/>
          </a:xfrm>
          <a:prstGeom prst="rect">
            <a:avLst/>
          </a:prstGeom>
          <a:solidFill>
            <a:srgbClr val="F0883E"/>
          </a:solidFill>
          <a:ln/>
        </p:spPr>
      </p:sp>
      <p:pic>
        <p:nvPicPr>
          <p:cNvPr id="29" name="Image 1" descr="preencoded.png">    </p:cNvPr>
          <p:cNvPicPr>
            <a:picLocks noChangeAspect="1"/>
          </p:cNvPicPr>
          <p:nvPr/>
        </p:nvPicPr>
        <p:blipFill>
          <a:blip r:embed="rId2"/>
          <a:stretch>
            <a:fillRect/>
          </a:stretch>
        </p:blipFill>
        <p:spPr>
          <a:xfrm>
            <a:off x="4673498" y="4590288"/>
            <a:ext cx="310896" cy="310896"/>
          </a:xfrm>
          <a:prstGeom prst="rect">
            <a:avLst/>
          </a:prstGeom>
        </p:spPr>
      </p:pic>
      <p:sp>
        <p:nvSpPr>
          <p:cNvPr id="30" name="Text 26"/>
          <p:cNvSpPr/>
          <p:nvPr/>
        </p:nvSpPr>
        <p:spPr>
          <a:xfrm>
            <a:off x="4673498" y="4992624"/>
            <a:ext cx="2844698" cy="310896"/>
          </a:xfrm>
          <a:prstGeom prst="rect">
            <a:avLst/>
          </a:prstGeom>
          <a:noFill/>
          <a:ln/>
        </p:spPr>
        <p:txBody>
          <a:bodyPr wrap="square" lIns="0" tIns="0" rIns="0" bIns="0" rtlCol="0" anchor="ctr"/>
          <a:lstStyle/>
          <a:p>
            <a:pPr indent="0" marL="0">
              <a:buNone/>
            </a:pPr>
            <a:r>
              <a:rPr lang="en-US" sz="1450" b="1" dirty="0">
                <a:solidFill>
                  <a:srgbClr val="E6EDF3"/>
                </a:solidFill>
                <a:latin typeface="Trebuchet MS" pitchFamily="34" charset="0"/>
                <a:ea typeface="Trebuchet MS" pitchFamily="34" charset="-122"/>
                <a:cs typeface="Trebuchet MS" pitchFamily="34" charset="-120"/>
              </a:rPr>
              <a:t>Fix your billing reports</a:t>
            </a:r>
            <a:endParaRPr lang="en-US" sz="1450" dirty="0"/>
          </a:p>
        </p:txBody>
      </p:sp>
      <p:sp>
        <p:nvSpPr>
          <p:cNvPr id="31" name="Text 27"/>
          <p:cNvSpPr/>
          <p:nvPr/>
        </p:nvSpPr>
        <p:spPr>
          <a:xfrm>
            <a:off x="4673498" y="5358384"/>
            <a:ext cx="2844698" cy="640080"/>
          </a:xfrm>
          <a:prstGeom prst="rect">
            <a:avLst/>
          </a:prstGeom>
          <a:noFill/>
          <a:ln/>
        </p:spPr>
        <p:txBody>
          <a:bodyPr wrap="square" lIns="0" tIns="0" rIns="0" bIns="0" rtlCol="0" anchor="t"/>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Usage and billing reports that filter on the old check path will miss Code Quality runs.</a:t>
            </a:r>
            <a:endParaRPr lang="en-US" sz="1200" dirty="0"/>
          </a:p>
        </p:txBody>
      </p:sp>
      <p:sp>
        <p:nvSpPr>
          <p:cNvPr id="32" name="Shape 28"/>
          <p:cNvSpPr/>
          <p:nvPr/>
        </p:nvSpPr>
        <p:spPr>
          <a:xfrm>
            <a:off x="8158277" y="4352544"/>
            <a:ext cx="3393338" cy="1737360"/>
          </a:xfrm>
          <a:prstGeom prst="rect">
            <a:avLst/>
          </a:prstGeom>
          <a:solidFill>
            <a:srgbClr val="1C2430"/>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33" name="Shape 29"/>
          <p:cNvSpPr/>
          <p:nvPr/>
        </p:nvSpPr>
        <p:spPr>
          <a:xfrm>
            <a:off x="8158277" y="4352544"/>
            <a:ext cx="54864" cy="1737360"/>
          </a:xfrm>
          <a:prstGeom prst="rect">
            <a:avLst/>
          </a:prstGeom>
          <a:solidFill>
            <a:srgbClr val="F0883E"/>
          </a:solidFill>
          <a:ln/>
        </p:spPr>
      </p:sp>
      <p:pic>
        <p:nvPicPr>
          <p:cNvPr id="34" name="Image 2" descr="preencoded.png">    </p:cNvPr>
          <p:cNvPicPr>
            <a:picLocks noChangeAspect="1"/>
          </p:cNvPicPr>
          <p:nvPr/>
        </p:nvPicPr>
        <p:blipFill>
          <a:blip r:embed="rId3"/>
          <a:stretch>
            <a:fillRect/>
          </a:stretch>
        </p:blipFill>
        <p:spPr>
          <a:xfrm>
            <a:off x="8432597" y="4590288"/>
            <a:ext cx="310896" cy="310896"/>
          </a:xfrm>
          <a:prstGeom prst="rect">
            <a:avLst/>
          </a:prstGeom>
        </p:spPr>
      </p:pic>
      <p:sp>
        <p:nvSpPr>
          <p:cNvPr id="35" name="Text 30"/>
          <p:cNvSpPr/>
          <p:nvPr/>
        </p:nvSpPr>
        <p:spPr>
          <a:xfrm>
            <a:off x="8432597" y="4992624"/>
            <a:ext cx="2844698" cy="310896"/>
          </a:xfrm>
          <a:prstGeom prst="rect">
            <a:avLst/>
          </a:prstGeom>
          <a:noFill/>
          <a:ln/>
        </p:spPr>
        <p:txBody>
          <a:bodyPr wrap="square" lIns="0" tIns="0" rIns="0" bIns="0" rtlCol="0" anchor="ctr"/>
          <a:lstStyle/>
          <a:p>
            <a:pPr indent="0" marL="0">
              <a:buNone/>
            </a:pPr>
            <a:r>
              <a:rPr lang="en-US" sz="1450" b="1" dirty="0">
                <a:solidFill>
                  <a:srgbClr val="E6EDF3"/>
                </a:solidFill>
                <a:latin typeface="Trebuchet MS" pitchFamily="34" charset="0"/>
                <a:ea typeface="Trebuchet MS" pitchFamily="34" charset="-122"/>
                <a:cs typeface="Trebuchet MS" pitchFamily="34" charset="-120"/>
              </a:rPr>
              <a:t>Repoint your filters</a:t>
            </a:r>
            <a:endParaRPr lang="en-US" sz="1450" dirty="0"/>
          </a:p>
        </p:txBody>
      </p:sp>
      <p:sp>
        <p:nvSpPr>
          <p:cNvPr id="36" name="Text 31"/>
          <p:cNvSpPr/>
          <p:nvPr/>
        </p:nvSpPr>
        <p:spPr>
          <a:xfrm>
            <a:off x="8432597" y="5358384"/>
            <a:ext cx="2844698" cy="640080"/>
          </a:xfrm>
          <a:prstGeom prst="rect">
            <a:avLst/>
          </a:prstGeom>
          <a:noFill/>
          <a:ln/>
        </p:spPr>
        <p:txBody>
          <a:bodyPr wrap="square" lIns="0" tIns="0" rIns="0" bIns="0" rtlCol="0" anchor="t"/>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Scripts, dashboards and workflow-run filters keyed to github-advanced-security need updating.</a:t>
            </a:r>
            <a:endParaRPr lang="en-US" sz="1200" dirty="0"/>
          </a:p>
        </p:txBody>
      </p:sp>
      <p:sp>
        <p:nvSpPr>
          <p:cNvPr id="37" name="Text 32"/>
          <p:cNvSpPr/>
          <p:nvPr/>
        </p:nvSpPr>
        <p:spPr>
          <a:xfrm>
            <a:off x="7345375" y="6309360"/>
            <a:ext cx="4206240" cy="27432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changelog: separate-github-actions-path-for-github-code-quality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640080" y="475488"/>
            <a:ext cx="50292" cy="219456"/>
          </a:xfrm>
          <a:prstGeom prst="rect">
            <a:avLst/>
          </a:prstGeom>
          <a:solidFill>
            <a:srgbClr val="A371F7"/>
          </a:solidFill>
          <a:ln/>
        </p:spPr>
      </p:sp>
      <p:sp>
        <p:nvSpPr>
          <p:cNvPr id="3" name="Text 1"/>
          <p:cNvSpPr/>
          <p:nvPr/>
        </p:nvSpPr>
        <p:spPr>
          <a:xfrm>
            <a:off x="786384" y="438912"/>
            <a:ext cx="7772400" cy="292608"/>
          </a:xfrm>
          <a:prstGeom prst="rect">
            <a:avLst/>
          </a:prstGeom>
          <a:noFill/>
          <a:ln/>
        </p:spPr>
        <p:txBody>
          <a:bodyPr wrap="square" lIns="0" tIns="0" rIns="0" bIns="0" rtlCol="0" anchor="ctr"/>
          <a:lstStyle/>
          <a:p>
            <a:pPr indent="0" marL="0">
              <a:buNone/>
            </a:pPr>
            <a:r>
              <a:rPr lang="en-US" sz="1050" b="1" spc="140" kern="0" dirty="0">
                <a:solidFill>
                  <a:srgbClr val="A371F7"/>
                </a:solidFill>
                <a:latin typeface="Consolas" pitchFamily="34" charset="0"/>
                <a:ea typeface="Consolas" pitchFamily="34" charset="-122"/>
                <a:cs typeface="Consolas" pitchFamily="34" charset="-120"/>
              </a:rPr>
              <a:t>AUG 19, 2026  /  CODE SCANNING</a:t>
            </a:r>
            <a:endParaRPr lang="en-US" sz="1050" dirty="0"/>
          </a:p>
        </p:txBody>
      </p:sp>
      <p:sp>
        <p:nvSpPr>
          <p:cNvPr id="4" name="Text 2"/>
          <p:cNvSpPr/>
          <p:nvPr/>
        </p:nvSpPr>
        <p:spPr>
          <a:xfrm>
            <a:off x="640080" y="786384"/>
            <a:ext cx="10911535" cy="713232"/>
          </a:xfrm>
          <a:prstGeom prst="rect">
            <a:avLst/>
          </a:prstGeom>
          <a:noFill/>
          <a:ln/>
        </p:spPr>
        <p:txBody>
          <a:bodyPr wrap="square" lIns="0" tIns="0" rIns="0" bIns="0" rtlCol="0" anchor="ctr"/>
          <a:lstStyle/>
          <a:p>
            <a:pPr indent="0" marL="0">
              <a:buNone/>
            </a:pPr>
            <a:r>
              <a:rPr lang="en-US" sz="3300" b="1" dirty="0">
                <a:solidFill>
                  <a:srgbClr val="E6EDF3"/>
                </a:solidFill>
                <a:latin typeface="Trebuchet MS" pitchFamily="34" charset="0"/>
                <a:ea typeface="Trebuchet MS" pitchFamily="34" charset="-122"/>
                <a:cs typeface="Trebuchet MS" pitchFamily="34" charset="-120"/>
              </a:rPr>
              <a:t>CodeQL 2.26.3 sharpens the Actions queries</a:t>
            </a:r>
            <a:endParaRPr lang="en-US" sz="3300" dirty="0"/>
          </a:p>
        </p:txBody>
      </p:sp>
      <p:sp>
        <p:nvSpPr>
          <p:cNvPr id="5" name="Shape 3"/>
          <p:cNvSpPr/>
          <p:nvPr/>
        </p:nvSpPr>
        <p:spPr>
          <a:xfrm>
            <a:off x="640080" y="1664208"/>
            <a:ext cx="4480560" cy="2761488"/>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6" name="Shape 4"/>
          <p:cNvSpPr/>
          <p:nvPr/>
        </p:nvSpPr>
        <p:spPr>
          <a:xfrm>
            <a:off x="640080" y="1664208"/>
            <a:ext cx="54864" cy="2761488"/>
          </a:xfrm>
          <a:prstGeom prst="rect">
            <a:avLst/>
          </a:prstGeom>
          <a:solidFill>
            <a:srgbClr val="F85149"/>
          </a:solidFill>
          <a:ln/>
        </p:spPr>
      </p:sp>
      <p:pic>
        <p:nvPicPr>
          <p:cNvPr id="7" name="Image 0" descr="preencoded.png">    </p:cNvPr>
          <p:cNvPicPr>
            <a:picLocks noChangeAspect="1"/>
          </p:cNvPicPr>
          <p:nvPr/>
        </p:nvPicPr>
        <p:blipFill>
          <a:blip r:embed="rId1"/>
          <a:stretch>
            <a:fillRect/>
          </a:stretch>
        </p:blipFill>
        <p:spPr>
          <a:xfrm>
            <a:off x="932688" y="1901952"/>
            <a:ext cx="347472" cy="347472"/>
          </a:xfrm>
          <a:prstGeom prst="rect">
            <a:avLst/>
          </a:prstGeom>
        </p:spPr>
      </p:pic>
      <p:sp>
        <p:nvSpPr>
          <p:cNvPr id="8" name="Text 5"/>
          <p:cNvSpPr/>
          <p:nvPr/>
        </p:nvSpPr>
        <p:spPr>
          <a:xfrm>
            <a:off x="932688" y="2359152"/>
            <a:ext cx="3895344" cy="347472"/>
          </a:xfrm>
          <a:prstGeom prst="rect">
            <a:avLst/>
          </a:prstGeom>
          <a:noFill/>
          <a:ln/>
        </p:spPr>
        <p:txBody>
          <a:bodyPr wrap="square" lIns="0" tIns="0" rIns="0" bIns="0" rtlCol="0" anchor="ctr"/>
          <a:lstStyle/>
          <a:p>
            <a:pPr indent="0" marL="0">
              <a:buNone/>
            </a:pPr>
            <a:r>
              <a:rPr lang="en-US" sz="1800" b="1" dirty="0">
                <a:solidFill>
                  <a:srgbClr val="E6EDF3"/>
                </a:solidFill>
                <a:latin typeface="Trebuchet MS" pitchFamily="34" charset="0"/>
                <a:ea typeface="Trebuchet MS" pitchFamily="34" charset="-122"/>
                <a:cs typeface="Trebuchet MS" pitchFamily="34" charset="-120"/>
              </a:rPr>
              <a:t>Breaking change</a:t>
            </a:r>
            <a:endParaRPr lang="en-US" sz="1800" dirty="0"/>
          </a:p>
        </p:txBody>
      </p:sp>
      <p:sp>
        <p:nvSpPr>
          <p:cNvPr id="9" name="Text 6"/>
          <p:cNvSpPr/>
          <p:nvPr/>
        </p:nvSpPr>
        <p:spPr>
          <a:xfrm>
            <a:off x="932688" y="2761488"/>
            <a:ext cx="3895344" cy="292608"/>
          </a:xfrm>
          <a:prstGeom prst="rect">
            <a:avLst/>
          </a:prstGeom>
          <a:noFill/>
          <a:ln/>
        </p:spPr>
        <p:txBody>
          <a:bodyPr wrap="square" lIns="0" tIns="0" rIns="0" bIns="0" rtlCol="0" anchor="ctr"/>
          <a:lstStyle/>
          <a:p>
            <a:pPr indent="0" marL="0">
              <a:buNone/>
            </a:pPr>
            <a:r>
              <a:rPr lang="en-US" sz="1100" dirty="0">
                <a:solidFill>
                  <a:srgbClr val="F85149"/>
                </a:solidFill>
                <a:latin typeface="Consolas" pitchFamily="34" charset="0"/>
                <a:ea typeface="Consolas" pitchFamily="34" charset="-122"/>
                <a:cs typeface="Consolas" pitchFamily="34" charset="-120"/>
              </a:rPr>
              <a:t>codeql.actions.security.SelfHostedQuery</a:t>
            </a:r>
            <a:endParaRPr lang="en-US" sz="1100" dirty="0"/>
          </a:p>
        </p:txBody>
      </p:sp>
      <p:sp>
        <p:nvSpPr>
          <p:cNvPr id="10" name="Text 7"/>
          <p:cNvSpPr/>
          <p:nvPr/>
        </p:nvSpPr>
        <p:spPr>
          <a:xfrm>
            <a:off x="932688" y="3145536"/>
            <a:ext cx="3895344" cy="1133856"/>
          </a:xfrm>
          <a:prstGeom prst="rect">
            <a:avLst/>
          </a:prstGeom>
          <a:noFill/>
          <a:ln/>
        </p:spPr>
        <p:txBody>
          <a:bodyPr wrap="square" lIns="0" tIns="0" rIns="0" bIns="0" rtlCol="0" anchor="ctr"/>
          <a:lstStyle/>
          <a:p>
            <a:pPr indent="0" marL="0">
              <a:lnSpc>
                <a:spcPts val="1700"/>
              </a:lnSpc>
              <a:buNone/>
            </a:pPr>
            <a:r>
              <a:rPr lang="en-US" sz="1250" dirty="0">
                <a:solidFill>
                  <a:srgbClr val="8B949E"/>
                </a:solidFill>
                <a:latin typeface="Calibri" pitchFamily="34" charset="0"/>
                <a:ea typeface="Calibri" pitchFamily="34" charset="-122"/>
                <a:cs typeface="Calibri" pitchFamily="34" charset="-120"/>
              </a:rPr>
              <a:t>This module is gone. Runner labels cannot reliably tell a self-hosted runner from a GitHub-managed one, so the assumption behind it did not hold. Any custom query that imports it needs updating.</a:t>
            </a:r>
            <a:endParaRPr lang="en-US" sz="1250" dirty="0"/>
          </a:p>
        </p:txBody>
      </p:sp>
      <p:pic>
        <p:nvPicPr>
          <p:cNvPr id="11" name="Image 1" descr="preencoded.png">    </p:cNvPr>
          <p:cNvPicPr>
            <a:picLocks noChangeAspect="1"/>
          </p:cNvPicPr>
          <p:nvPr/>
        </p:nvPicPr>
        <p:blipFill>
          <a:blip r:embed="rId2"/>
          <a:stretch>
            <a:fillRect/>
          </a:stretch>
        </p:blipFill>
        <p:spPr>
          <a:xfrm>
            <a:off x="5486400" y="1709928"/>
            <a:ext cx="274320" cy="274320"/>
          </a:xfrm>
          <a:prstGeom prst="rect">
            <a:avLst/>
          </a:prstGeom>
        </p:spPr>
      </p:pic>
      <p:sp>
        <p:nvSpPr>
          <p:cNvPr id="12" name="Text 8"/>
          <p:cNvSpPr/>
          <p:nvPr/>
        </p:nvSpPr>
        <p:spPr>
          <a:xfrm>
            <a:off x="5907024" y="1664208"/>
            <a:ext cx="5644591" cy="274320"/>
          </a:xfrm>
          <a:prstGeom prst="rect">
            <a:avLst/>
          </a:prstGeom>
          <a:noFill/>
          <a:ln/>
        </p:spPr>
        <p:txBody>
          <a:bodyPr wrap="square" lIns="0" tIns="0" rIns="0" bIns="0" rtlCol="0" anchor="ctr"/>
          <a:lstStyle/>
          <a:p>
            <a:pPr indent="0" marL="0">
              <a:buNone/>
            </a:pPr>
            <a:r>
              <a:rPr lang="en-US" sz="1400" b="1" dirty="0">
                <a:solidFill>
                  <a:srgbClr val="E6EDF3"/>
                </a:solidFill>
                <a:latin typeface="Trebuchet MS" pitchFamily="34" charset="0"/>
                <a:ea typeface="Trebuchet MS" pitchFamily="34" charset="-122"/>
                <a:cs typeface="Trebuchet MS" pitchFamily="34" charset="-120"/>
              </a:rPr>
              <a:t>New coverage for merge groups</a:t>
            </a:r>
            <a:endParaRPr lang="en-US" sz="1400" dirty="0"/>
          </a:p>
        </p:txBody>
      </p:sp>
      <p:sp>
        <p:nvSpPr>
          <p:cNvPr id="13" name="Text 9"/>
          <p:cNvSpPr/>
          <p:nvPr/>
        </p:nvSpPr>
        <p:spPr>
          <a:xfrm>
            <a:off x="5907024" y="1938528"/>
            <a:ext cx="5644591" cy="420624"/>
          </a:xfrm>
          <a:prstGeom prst="rect">
            <a:avLst/>
          </a:prstGeom>
          <a:noFill/>
          <a:ln/>
        </p:spPr>
        <p:txBody>
          <a:bodyPr wrap="square" lIns="0" tIns="0" rIns="0" bIns="0" rtlCol="0" anchor="ctr"/>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Untrusted data in github.event.merge_group is now recognised on merge_group-triggered workflows.</a:t>
            </a:r>
            <a:endParaRPr lang="en-US" sz="1150" dirty="0"/>
          </a:p>
        </p:txBody>
      </p:sp>
      <p:pic>
        <p:nvPicPr>
          <p:cNvPr id="14" name="Image 2" descr="preencoded.png">    </p:cNvPr>
          <p:cNvPicPr>
            <a:picLocks noChangeAspect="1"/>
          </p:cNvPicPr>
          <p:nvPr/>
        </p:nvPicPr>
        <p:blipFill>
          <a:blip r:embed="rId3"/>
          <a:stretch>
            <a:fillRect/>
          </a:stretch>
        </p:blipFill>
        <p:spPr>
          <a:xfrm>
            <a:off x="5486400" y="2432304"/>
            <a:ext cx="274320" cy="274320"/>
          </a:xfrm>
          <a:prstGeom prst="rect">
            <a:avLst/>
          </a:prstGeom>
        </p:spPr>
      </p:pic>
      <p:sp>
        <p:nvSpPr>
          <p:cNvPr id="15" name="Text 10"/>
          <p:cNvSpPr/>
          <p:nvPr/>
        </p:nvSpPr>
        <p:spPr>
          <a:xfrm>
            <a:off x="5907024" y="2386584"/>
            <a:ext cx="5644591" cy="274320"/>
          </a:xfrm>
          <a:prstGeom prst="rect">
            <a:avLst/>
          </a:prstGeom>
          <a:noFill/>
          <a:ln/>
        </p:spPr>
        <p:txBody>
          <a:bodyPr wrap="square" lIns="0" tIns="0" rIns="0" bIns="0" rtlCol="0" anchor="ctr"/>
          <a:lstStyle/>
          <a:p>
            <a:pPr indent="0" marL="0">
              <a:buNone/>
            </a:pPr>
            <a:r>
              <a:rPr lang="en-US" sz="1400" b="1" dirty="0">
                <a:solidFill>
                  <a:srgbClr val="E6EDF3"/>
                </a:solidFill>
                <a:latin typeface="Trebuchet MS" pitchFamily="34" charset="0"/>
                <a:ea typeface="Trebuchet MS" pitchFamily="34" charset="-122"/>
                <a:cs typeface="Trebuchet MS" pitchFamily="34" charset="-120"/>
              </a:rPr>
              <a:t>Fewer false positives</a:t>
            </a:r>
            <a:endParaRPr lang="en-US" sz="1400" dirty="0"/>
          </a:p>
        </p:txBody>
      </p:sp>
      <p:sp>
        <p:nvSpPr>
          <p:cNvPr id="16" name="Text 11"/>
          <p:cNvSpPr/>
          <p:nvPr/>
        </p:nvSpPr>
        <p:spPr>
          <a:xfrm>
            <a:off x="5907024" y="2660904"/>
            <a:ext cx="5644591" cy="420624"/>
          </a:xfrm>
          <a:prstGeom prst="rect">
            <a:avLst/>
          </a:prstGeom>
          <a:noFill/>
          <a:ln/>
        </p:spPr>
        <p:txBody>
          <a:bodyPr wrap="square" lIns="0" tIns="0" rIns="0" bIns="0" rtlCol="0" anchor="ctr"/>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output-clobbering/high no longer flags simple jq path filters whose values stay JSON-encoded.</a:t>
            </a:r>
            <a:endParaRPr lang="en-US" sz="1150" dirty="0"/>
          </a:p>
        </p:txBody>
      </p:sp>
      <p:pic>
        <p:nvPicPr>
          <p:cNvPr id="17" name="Image 3" descr="preencoded.png">    </p:cNvPr>
          <p:cNvPicPr>
            <a:picLocks noChangeAspect="1"/>
          </p:cNvPicPr>
          <p:nvPr/>
        </p:nvPicPr>
        <p:blipFill>
          <a:blip r:embed="rId4"/>
          <a:stretch>
            <a:fillRect/>
          </a:stretch>
        </p:blipFill>
        <p:spPr>
          <a:xfrm>
            <a:off x="5486400" y="3154680"/>
            <a:ext cx="274320" cy="274320"/>
          </a:xfrm>
          <a:prstGeom prst="rect">
            <a:avLst/>
          </a:prstGeom>
        </p:spPr>
      </p:pic>
      <p:sp>
        <p:nvSpPr>
          <p:cNvPr id="18" name="Text 12"/>
          <p:cNvSpPr/>
          <p:nvPr/>
        </p:nvSpPr>
        <p:spPr>
          <a:xfrm>
            <a:off x="5907024" y="3108960"/>
            <a:ext cx="5644591" cy="274320"/>
          </a:xfrm>
          <a:prstGeom prst="rect">
            <a:avLst/>
          </a:prstGeom>
          <a:noFill/>
          <a:ln/>
        </p:spPr>
        <p:txBody>
          <a:bodyPr wrap="square" lIns="0" tIns="0" rIns="0" bIns="0" rtlCol="0" anchor="ctr"/>
          <a:lstStyle/>
          <a:p>
            <a:pPr indent="0" marL="0">
              <a:buNone/>
            </a:pPr>
            <a:r>
              <a:rPr lang="en-US" sz="1400" b="1" dirty="0">
                <a:solidFill>
                  <a:srgbClr val="E6EDF3"/>
                </a:solidFill>
                <a:latin typeface="Trebuchet MS" pitchFamily="34" charset="0"/>
                <a:ea typeface="Trebuchet MS" pitchFamily="34" charset="-122"/>
                <a:cs typeface="Trebuchet MS" pitchFamily="34" charset="-120"/>
              </a:rPr>
              <a:t>Clearer alert paths</a:t>
            </a:r>
            <a:endParaRPr lang="en-US" sz="1400" dirty="0"/>
          </a:p>
        </p:txBody>
      </p:sp>
      <p:sp>
        <p:nvSpPr>
          <p:cNvPr id="19" name="Text 13"/>
          <p:cNvSpPr/>
          <p:nvPr/>
        </p:nvSpPr>
        <p:spPr>
          <a:xfrm>
            <a:off x="5907024" y="3383280"/>
            <a:ext cx="5644591" cy="420624"/>
          </a:xfrm>
          <a:prstGeom prst="rect">
            <a:avLst/>
          </a:prstGeom>
          <a:noFill/>
          <a:ln/>
        </p:spPr>
        <p:txBody>
          <a:bodyPr wrap="square" lIns="0" tIns="0" rIns="0" bIns="0" rtlCol="0" anchor="ctr"/>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cache-poisoning and untrusted-checkout alerts now start at the expression controlling the checkout.</a:t>
            </a:r>
            <a:endParaRPr lang="en-US" sz="1150" dirty="0"/>
          </a:p>
        </p:txBody>
      </p:sp>
      <p:pic>
        <p:nvPicPr>
          <p:cNvPr id="20" name="Image 4" descr="preencoded.png">    </p:cNvPr>
          <p:cNvPicPr>
            <a:picLocks noChangeAspect="1"/>
          </p:cNvPicPr>
          <p:nvPr/>
        </p:nvPicPr>
        <p:blipFill>
          <a:blip r:embed="rId5"/>
          <a:stretch>
            <a:fillRect/>
          </a:stretch>
        </p:blipFill>
        <p:spPr>
          <a:xfrm>
            <a:off x="5486400" y="3877056"/>
            <a:ext cx="274320" cy="274320"/>
          </a:xfrm>
          <a:prstGeom prst="rect">
            <a:avLst/>
          </a:prstGeom>
        </p:spPr>
      </p:pic>
      <p:sp>
        <p:nvSpPr>
          <p:cNvPr id="21" name="Text 14"/>
          <p:cNvSpPr/>
          <p:nvPr/>
        </p:nvSpPr>
        <p:spPr>
          <a:xfrm>
            <a:off x="5907024" y="3831336"/>
            <a:ext cx="5644591" cy="274320"/>
          </a:xfrm>
          <a:prstGeom prst="rect">
            <a:avLst/>
          </a:prstGeom>
          <a:noFill/>
          <a:ln/>
        </p:spPr>
        <p:txBody>
          <a:bodyPr wrap="square" lIns="0" tIns="0" rIns="0" bIns="0" rtlCol="0" anchor="ctr"/>
          <a:lstStyle/>
          <a:p>
            <a:pPr indent="0" marL="0">
              <a:buNone/>
            </a:pPr>
            <a:r>
              <a:rPr lang="en-US" sz="1400" b="1" dirty="0">
                <a:solidFill>
                  <a:srgbClr val="E6EDF3"/>
                </a:solidFill>
                <a:latin typeface="Trebuchet MS" pitchFamily="34" charset="0"/>
                <a:ea typeface="Trebuchet MS" pitchFamily="34" charset="-122"/>
                <a:cs typeface="Trebuchet MS" pitchFamily="34" charset="-120"/>
              </a:rPr>
              <a:t>Tighter injection rules</a:t>
            </a:r>
            <a:endParaRPr lang="en-US" sz="1400" dirty="0"/>
          </a:p>
        </p:txBody>
      </p:sp>
      <p:sp>
        <p:nvSpPr>
          <p:cNvPr id="22" name="Text 15"/>
          <p:cNvSpPr/>
          <p:nvPr/>
        </p:nvSpPr>
        <p:spPr>
          <a:xfrm>
            <a:off x="5907024" y="4105656"/>
            <a:ext cx="5644591" cy="420624"/>
          </a:xfrm>
          <a:prstGeom prst="rect">
            <a:avLst/>
          </a:prstGeom>
          <a:noFill/>
          <a:ln/>
        </p:spPr>
        <p:txBody>
          <a:bodyPr wrap="square" lIns="0" tIns="0" rIns="0" bIns="0" rtlCol="0" anchor="ctr"/>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envvar-injection/critical now needs an untrusted source and a privileged context from the same trigger.</a:t>
            </a:r>
            <a:endParaRPr lang="en-US" sz="1150" dirty="0"/>
          </a:p>
        </p:txBody>
      </p:sp>
      <p:sp>
        <p:nvSpPr>
          <p:cNvPr id="23" name="Shape 16"/>
          <p:cNvSpPr/>
          <p:nvPr/>
        </p:nvSpPr>
        <p:spPr>
          <a:xfrm>
            <a:off x="640080" y="4663440"/>
            <a:ext cx="10911535" cy="1042416"/>
          </a:xfrm>
          <a:prstGeom prst="rect">
            <a:avLst/>
          </a:prstGeom>
          <a:solidFill>
            <a:srgbClr val="1C2430"/>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4" name="Shape 17"/>
          <p:cNvSpPr/>
          <p:nvPr/>
        </p:nvSpPr>
        <p:spPr>
          <a:xfrm>
            <a:off x="640080" y="4663440"/>
            <a:ext cx="54864" cy="1042416"/>
          </a:xfrm>
          <a:prstGeom prst="rect">
            <a:avLst/>
          </a:prstGeom>
          <a:solidFill>
            <a:srgbClr val="3FB950"/>
          </a:solidFill>
          <a:ln/>
        </p:spPr>
      </p:sp>
      <p:pic>
        <p:nvPicPr>
          <p:cNvPr id="25" name="Image 5" descr="preencoded.png">    </p:cNvPr>
          <p:cNvPicPr>
            <a:picLocks noChangeAspect="1"/>
          </p:cNvPicPr>
          <p:nvPr/>
        </p:nvPicPr>
        <p:blipFill>
          <a:blip r:embed="rId6"/>
          <a:stretch>
            <a:fillRect/>
          </a:stretch>
        </p:blipFill>
        <p:spPr>
          <a:xfrm>
            <a:off x="932688" y="5010912"/>
            <a:ext cx="310896" cy="310896"/>
          </a:xfrm>
          <a:prstGeom prst="rect">
            <a:avLst/>
          </a:prstGeom>
        </p:spPr>
      </p:pic>
      <p:sp>
        <p:nvSpPr>
          <p:cNvPr id="26" name="Text 18"/>
          <p:cNvSpPr/>
          <p:nvPr/>
        </p:nvSpPr>
        <p:spPr>
          <a:xfrm>
            <a:off x="1389888" y="4901184"/>
            <a:ext cx="9869119" cy="566928"/>
          </a:xfrm>
          <a:prstGeom prst="rect">
            <a:avLst/>
          </a:prstGeom>
          <a:noFill/>
          <a:ln/>
        </p:spPr>
        <p:txBody>
          <a:bodyPr wrap="square" lIns="0" tIns="0" rIns="0" bIns="0" rtlCol="0" anchor="ctr"/>
          <a:lstStyle/>
          <a:p>
            <a:pPr indent="0" marL="0">
              <a:lnSpc>
                <a:spcPts val="1800"/>
              </a:lnSpc>
              <a:buNone/>
            </a:pPr>
            <a:r>
              <a:rPr lang="en-US" sz="1300" dirty="0">
                <a:solidFill>
                  <a:srgbClr val="E6EDF3"/>
                </a:solidFill>
                <a:latin typeface="Calibri" pitchFamily="34" charset="0"/>
                <a:ea typeface="Calibri" pitchFamily="34" charset="-122"/>
                <a:cs typeface="Calibri" pitchFamily="34" charset="-120"/>
              </a:rPr>
              <a:t>The three cache-poisoning queries now account for read-only cache access on low-trust triggers in default-branch scope - the pay-off from June's read-only cache change.</a:t>
            </a:r>
            <a:endParaRPr lang="en-US" sz="1300" dirty="0"/>
          </a:p>
        </p:txBody>
      </p:sp>
      <p:sp>
        <p:nvSpPr>
          <p:cNvPr id="27" name="Shape 19"/>
          <p:cNvSpPr/>
          <p:nvPr/>
        </p:nvSpPr>
        <p:spPr>
          <a:xfrm>
            <a:off x="640080" y="5925312"/>
            <a:ext cx="5120640" cy="292608"/>
          </a:xfrm>
          <a:prstGeom prst="roundRect">
            <a:avLst>
              <a:gd name="adj" fmla="val 50000"/>
            </a:avLst>
          </a:prstGeom>
          <a:solidFill>
            <a:srgbClr val="1C2430"/>
          </a:solidFill>
          <a:ln w="12700">
            <a:solidFill>
              <a:srgbClr val="2F81F7"/>
            </a:solidFill>
            <a:prstDash val="solid"/>
          </a:ln>
        </p:spPr>
      </p:sp>
      <p:sp>
        <p:nvSpPr>
          <p:cNvPr id="28" name="Text 20"/>
          <p:cNvSpPr/>
          <p:nvPr/>
        </p:nvSpPr>
        <p:spPr>
          <a:xfrm>
            <a:off x="640080" y="5925312"/>
            <a:ext cx="5120640" cy="292608"/>
          </a:xfrm>
          <a:prstGeom prst="rect">
            <a:avLst/>
          </a:prstGeom>
          <a:noFill/>
          <a:ln/>
        </p:spPr>
        <p:txBody>
          <a:bodyPr wrap="square" lIns="0" tIns="0" rIns="0" bIns="0" rtlCol="0" anchor="ctr"/>
          <a:lstStyle/>
          <a:p>
            <a:pPr algn="ctr" indent="0" marL="0">
              <a:buNone/>
            </a:pPr>
            <a:r>
              <a:rPr lang="en-US" sz="950" b="1" dirty="0">
                <a:solidFill>
                  <a:srgbClr val="2F81F7"/>
                </a:solidFill>
                <a:latin typeface="Consolas" pitchFamily="34" charset="0"/>
                <a:ea typeface="Consolas" pitchFamily="34" charset="-122"/>
                <a:cs typeface="Consolas" pitchFamily="34" charset="-120"/>
              </a:rPr>
              <a:t>AUTO-DEPLOYED TO GITHUB.COM  ·  GHES IN A FUTURE RELEASE</a:t>
            </a:r>
            <a:endParaRPr lang="en-US" sz="950" dirty="0"/>
          </a:p>
        </p:txBody>
      </p:sp>
      <p:sp>
        <p:nvSpPr>
          <p:cNvPr id="29" name="Text 21"/>
          <p:cNvSpPr/>
          <p:nvPr/>
        </p:nvSpPr>
        <p:spPr>
          <a:xfrm>
            <a:off x="7345375" y="6309360"/>
            <a:ext cx="4206240" cy="27432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changelog: codeql-2-26-3-improves-github-actions-queries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640080" y="475488"/>
            <a:ext cx="50292" cy="219456"/>
          </a:xfrm>
          <a:prstGeom prst="rect">
            <a:avLst/>
          </a:prstGeom>
          <a:solidFill>
            <a:srgbClr val="3FB950"/>
          </a:solidFill>
          <a:ln/>
        </p:spPr>
      </p:sp>
      <p:sp>
        <p:nvSpPr>
          <p:cNvPr id="3" name="Text 1"/>
          <p:cNvSpPr/>
          <p:nvPr/>
        </p:nvSpPr>
        <p:spPr>
          <a:xfrm>
            <a:off x="786384" y="438912"/>
            <a:ext cx="7772400" cy="292608"/>
          </a:xfrm>
          <a:prstGeom prst="rect">
            <a:avLst/>
          </a:prstGeom>
          <a:noFill/>
          <a:ln/>
        </p:spPr>
        <p:txBody>
          <a:bodyPr wrap="square" lIns="0" tIns="0" rIns="0" bIns="0" rtlCol="0" anchor="ctr"/>
          <a:lstStyle/>
          <a:p>
            <a:pPr indent="0" marL="0">
              <a:buNone/>
            </a:pPr>
            <a:r>
              <a:rPr lang="en-US" sz="1050" b="1" spc="140" kern="0" dirty="0">
                <a:solidFill>
                  <a:srgbClr val="3FB950"/>
                </a:solidFill>
                <a:latin typeface="Consolas" pitchFamily="34" charset="0"/>
                <a:ea typeface="Consolas" pitchFamily="34" charset="-122"/>
                <a:cs typeface="Consolas" pitchFamily="34" charset="-120"/>
              </a:rPr>
              <a:t>AUG 4, 2026  /  PUBLIC PREVIEW</a:t>
            </a:r>
            <a:endParaRPr lang="en-US" sz="1050" dirty="0"/>
          </a:p>
        </p:txBody>
      </p:sp>
      <p:sp>
        <p:nvSpPr>
          <p:cNvPr id="4" name="Text 2"/>
          <p:cNvSpPr/>
          <p:nvPr/>
        </p:nvSpPr>
        <p:spPr>
          <a:xfrm>
            <a:off x="640080" y="786384"/>
            <a:ext cx="10911535" cy="713232"/>
          </a:xfrm>
          <a:prstGeom prst="rect">
            <a:avLst/>
          </a:prstGeom>
          <a:noFill/>
          <a:ln/>
        </p:spPr>
        <p:txBody>
          <a:bodyPr wrap="square" lIns="0" tIns="0" rIns="0" bIns="0" rtlCol="0" anchor="ctr"/>
          <a:lstStyle/>
          <a:p>
            <a:pPr indent="0" marL="0">
              <a:buNone/>
            </a:pPr>
            <a:r>
              <a:rPr lang="en-US" sz="3300" b="1" dirty="0">
                <a:solidFill>
                  <a:srgbClr val="E6EDF3"/>
                </a:solidFill>
                <a:latin typeface="Trebuchet MS" pitchFamily="34" charset="0"/>
                <a:ea typeface="Trebuchet MS" pitchFamily="34" charset="-122"/>
                <a:cs typeface="Trebuchet MS" pitchFamily="34" charset="-120"/>
              </a:rPr>
              <a:t>Let GitHub write your coverage workflow</a:t>
            </a:r>
            <a:endParaRPr lang="en-US" sz="3300" dirty="0"/>
          </a:p>
        </p:txBody>
      </p:sp>
      <p:sp>
        <p:nvSpPr>
          <p:cNvPr id="5" name="Shape 3"/>
          <p:cNvSpPr/>
          <p:nvPr/>
        </p:nvSpPr>
        <p:spPr>
          <a:xfrm>
            <a:off x="640080" y="1682496"/>
            <a:ext cx="5943600" cy="128016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6" name="Shape 4"/>
          <p:cNvSpPr/>
          <p:nvPr/>
        </p:nvSpPr>
        <p:spPr>
          <a:xfrm>
            <a:off x="640080" y="1682496"/>
            <a:ext cx="54864" cy="1280160"/>
          </a:xfrm>
          <a:prstGeom prst="rect">
            <a:avLst/>
          </a:prstGeom>
          <a:solidFill>
            <a:srgbClr val="3FB950"/>
          </a:solidFill>
          <a:ln/>
        </p:spPr>
      </p:sp>
      <p:sp>
        <p:nvSpPr>
          <p:cNvPr id="7" name="Shape 5"/>
          <p:cNvSpPr/>
          <p:nvPr/>
        </p:nvSpPr>
        <p:spPr>
          <a:xfrm>
            <a:off x="914400" y="2011680"/>
            <a:ext cx="621792" cy="621792"/>
          </a:xfrm>
          <a:prstGeom prst="roundRect">
            <a:avLst>
              <a:gd name="adj" fmla="val 17647"/>
            </a:avLst>
          </a:prstGeom>
          <a:solidFill>
            <a:srgbClr val="1C2430"/>
          </a:solidFill>
          <a:ln w="15875">
            <a:solidFill>
              <a:srgbClr val="3FB950"/>
            </a:solidFill>
            <a:prstDash val="solid"/>
          </a:ln>
        </p:spPr>
      </p:sp>
      <p:sp>
        <p:nvSpPr>
          <p:cNvPr id="8" name="Text 6"/>
          <p:cNvSpPr/>
          <p:nvPr/>
        </p:nvSpPr>
        <p:spPr>
          <a:xfrm>
            <a:off x="914400" y="2011680"/>
            <a:ext cx="621792" cy="621792"/>
          </a:xfrm>
          <a:prstGeom prst="rect">
            <a:avLst/>
          </a:prstGeom>
          <a:noFill/>
          <a:ln/>
        </p:spPr>
        <p:txBody>
          <a:bodyPr wrap="square" lIns="0" tIns="0" rIns="0" bIns="0" rtlCol="0" anchor="ctr"/>
          <a:lstStyle/>
          <a:p>
            <a:pPr algn="ctr" indent="0" marL="0">
              <a:buNone/>
            </a:pPr>
            <a:r>
              <a:rPr lang="en-US" sz="1600" b="1" dirty="0">
                <a:solidFill>
                  <a:srgbClr val="3FB950"/>
                </a:solidFill>
                <a:latin typeface="Consolas" pitchFamily="34" charset="0"/>
                <a:ea typeface="Consolas" pitchFamily="34" charset="-122"/>
                <a:cs typeface="Consolas" pitchFamily="34" charset="-120"/>
              </a:rPr>
              <a:t>01</a:t>
            </a:r>
            <a:endParaRPr lang="en-US" sz="1600" dirty="0"/>
          </a:p>
        </p:txBody>
      </p:sp>
      <p:sp>
        <p:nvSpPr>
          <p:cNvPr id="9" name="Text 7"/>
          <p:cNvSpPr/>
          <p:nvPr/>
        </p:nvSpPr>
        <p:spPr>
          <a:xfrm>
            <a:off x="1700784" y="1901952"/>
            <a:ext cx="4608576" cy="347472"/>
          </a:xfrm>
          <a:prstGeom prst="rect">
            <a:avLst/>
          </a:prstGeom>
          <a:noFill/>
          <a:ln/>
        </p:spPr>
        <p:txBody>
          <a:bodyPr wrap="square" lIns="0" tIns="0" rIns="0" bIns="0" rtlCol="0" anchor="ctr"/>
          <a:lstStyle/>
          <a:p>
            <a:pPr indent="0" marL="0">
              <a:buNone/>
            </a:pPr>
            <a:r>
              <a:rPr lang="en-US" sz="1600" b="1" dirty="0">
                <a:solidFill>
                  <a:srgbClr val="E6EDF3"/>
                </a:solidFill>
                <a:latin typeface="Trebuchet MS" pitchFamily="34" charset="0"/>
                <a:ea typeface="Trebuchet MS" pitchFamily="34" charset="-122"/>
                <a:cs typeface="Trebuchet MS" pitchFamily="34" charset="-120"/>
              </a:rPr>
              <a:t>Turn it on</a:t>
            </a:r>
            <a:endParaRPr lang="en-US" sz="1600" dirty="0"/>
          </a:p>
        </p:txBody>
      </p:sp>
      <p:sp>
        <p:nvSpPr>
          <p:cNvPr id="10" name="Text 8"/>
          <p:cNvSpPr/>
          <p:nvPr/>
        </p:nvSpPr>
        <p:spPr>
          <a:xfrm>
            <a:off x="1700784" y="2267712"/>
            <a:ext cx="4608576" cy="548640"/>
          </a:xfrm>
          <a:prstGeom prst="rect">
            <a:avLst/>
          </a:prstGeom>
          <a:noFill/>
          <a:ln/>
        </p:spPr>
        <p:txBody>
          <a:bodyPr wrap="square" lIns="0" tIns="0" rIns="0" bIns="0" rtlCol="0" anchor="ctr"/>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Enable automatic code coverage in your repository's Code Quality settings.</a:t>
            </a:r>
            <a:endParaRPr lang="en-US" sz="1200" dirty="0"/>
          </a:p>
        </p:txBody>
      </p:sp>
      <p:sp>
        <p:nvSpPr>
          <p:cNvPr id="11" name="Shape 9"/>
          <p:cNvSpPr/>
          <p:nvPr/>
        </p:nvSpPr>
        <p:spPr>
          <a:xfrm>
            <a:off x="1197864" y="2962656"/>
            <a:ext cx="45720" cy="182880"/>
          </a:xfrm>
          <a:prstGeom prst="rect">
            <a:avLst/>
          </a:prstGeom>
          <a:solidFill>
            <a:srgbClr val="30363D"/>
          </a:solidFill>
          <a:ln/>
        </p:spPr>
      </p:sp>
      <p:sp>
        <p:nvSpPr>
          <p:cNvPr id="12" name="Shape 10"/>
          <p:cNvSpPr/>
          <p:nvPr/>
        </p:nvSpPr>
        <p:spPr>
          <a:xfrm>
            <a:off x="640080" y="3145536"/>
            <a:ext cx="5943600" cy="128016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13" name="Shape 11"/>
          <p:cNvSpPr/>
          <p:nvPr/>
        </p:nvSpPr>
        <p:spPr>
          <a:xfrm>
            <a:off x="640080" y="3145536"/>
            <a:ext cx="54864" cy="1280160"/>
          </a:xfrm>
          <a:prstGeom prst="rect">
            <a:avLst/>
          </a:prstGeom>
          <a:solidFill>
            <a:srgbClr val="2F81F7"/>
          </a:solidFill>
          <a:ln/>
        </p:spPr>
      </p:sp>
      <p:sp>
        <p:nvSpPr>
          <p:cNvPr id="14" name="Shape 12"/>
          <p:cNvSpPr/>
          <p:nvPr/>
        </p:nvSpPr>
        <p:spPr>
          <a:xfrm>
            <a:off x="914400" y="3474720"/>
            <a:ext cx="621792" cy="621792"/>
          </a:xfrm>
          <a:prstGeom prst="roundRect">
            <a:avLst>
              <a:gd name="adj" fmla="val 17647"/>
            </a:avLst>
          </a:prstGeom>
          <a:solidFill>
            <a:srgbClr val="1C2430"/>
          </a:solidFill>
          <a:ln w="15875">
            <a:solidFill>
              <a:srgbClr val="2F81F7"/>
            </a:solidFill>
            <a:prstDash val="solid"/>
          </a:ln>
        </p:spPr>
      </p:sp>
      <p:sp>
        <p:nvSpPr>
          <p:cNvPr id="15" name="Text 13"/>
          <p:cNvSpPr/>
          <p:nvPr/>
        </p:nvSpPr>
        <p:spPr>
          <a:xfrm>
            <a:off x="914400" y="3474720"/>
            <a:ext cx="621792" cy="621792"/>
          </a:xfrm>
          <a:prstGeom prst="rect">
            <a:avLst/>
          </a:prstGeom>
          <a:noFill/>
          <a:ln/>
        </p:spPr>
        <p:txBody>
          <a:bodyPr wrap="square" lIns="0" tIns="0" rIns="0" bIns="0" rtlCol="0" anchor="ctr"/>
          <a:lstStyle/>
          <a:p>
            <a:pPr algn="ctr" indent="0" marL="0">
              <a:buNone/>
            </a:pPr>
            <a:r>
              <a:rPr lang="en-US" sz="1600" b="1" dirty="0">
                <a:solidFill>
                  <a:srgbClr val="2F81F7"/>
                </a:solidFill>
                <a:latin typeface="Consolas" pitchFamily="34" charset="0"/>
                <a:ea typeface="Consolas" pitchFamily="34" charset="-122"/>
                <a:cs typeface="Consolas" pitchFamily="34" charset="-120"/>
              </a:rPr>
              <a:t>02</a:t>
            </a:r>
            <a:endParaRPr lang="en-US" sz="1600" dirty="0"/>
          </a:p>
        </p:txBody>
      </p:sp>
      <p:sp>
        <p:nvSpPr>
          <p:cNvPr id="16" name="Text 14"/>
          <p:cNvSpPr/>
          <p:nvPr/>
        </p:nvSpPr>
        <p:spPr>
          <a:xfrm>
            <a:off x="1700784" y="3364992"/>
            <a:ext cx="4608576" cy="347472"/>
          </a:xfrm>
          <a:prstGeom prst="rect">
            <a:avLst/>
          </a:prstGeom>
          <a:noFill/>
          <a:ln/>
        </p:spPr>
        <p:txBody>
          <a:bodyPr wrap="square" lIns="0" tIns="0" rIns="0" bIns="0" rtlCol="0" anchor="ctr"/>
          <a:lstStyle/>
          <a:p>
            <a:pPr indent="0" marL="0">
              <a:buNone/>
            </a:pPr>
            <a:r>
              <a:rPr lang="en-US" sz="1600" b="1" dirty="0">
                <a:solidFill>
                  <a:srgbClr val="E6EDF3"/>
                </a:solidFill>
                <a:latin typeface="Trebuchet MS" pitchFamily="34" charset="0"/>
                <a:ea typeface="Trebuchet MS" pitchFamily="34" charset="-122"/>
                <a:cs typeface="Trebuchet MS" pitchFamily="34" charset="-120"/>
              </a:rPr>
              <a:t>GitHub generates it</a:t>
            </a:r>
            <a:endParaRPr lang="en-US" sz="1600" dirty="0"/>
          </a:p>
        </p:txBody>
      </p:sp>
      <p:sp>
        <p:nvSpPr>
          <p:cNvPr id="17" name="Text 15"/>
          <p:cNvSpPr/>
          <p:nvPr/>
        </p:nvSpPr>
        <p:spPr>
          <a:xfrm>
            <a:off x="1700784" y="3730752"/>
            <a:ext cx="4608576" cy="548640"/>
          </a:xfrm>
          <a:prstGeom prst="rect">
            <a:avLst/>
          </a:prstGeom>
          <a:noFill/>
          <a:ln/>
        </p:spPr>
        <p:txBody>
          <a:bodyPr wrap="square" lIns="0" tIns="0" rIns="0" bIns="0" rtlCol="0" anchor="ctr"/>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AI writes a workflow that builds your code, runs the tests, produces a coverage report and uploads it.</a:t>
            </a:r>
            <a:endParaRPr lang="en-US" sz="1200" dirty="0"/>
          </a:p>
        </p:txBody>
      </p:sp>
      <p:sp>
        <p:nvSpPr>
          <p:cNvPr id="18" name="Shape 16"/>
          <p:cNvSpPr/>
          <p:nvPr/>
        </p:nvSpPr>
        <p:spPr>
          <a:xfrm>
            <a:off x="1197864" y="4425696"/>
            <a:ext cx="45720" cy="182880"/>
          </a:xfrm>
          <a:prstGeom prst="rect">
            <a:avLst/>
          </a:prstGeom>
          <a:solidFill>
            <a:srgbClr val="30363D"/>
          </a:solidFill>
          <a:ln/>
        </p:spPr>
      </p:sp>
      <p:sp>
        <p:nvSpPr>
          <p:cNvPr id="19" name="Shape 17"/>
          <p:cNvSpPr/>
          <p:nvPr/>
        </p:nvSpPr>
        <p:spPr>
          <a:xfrm>
            <a:off x="640080" y="4608576"/>
            <a:ext cx="5943600" cy="128016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0" name="Shape 18"/>
          <p:cNvSpPr/>
          <p:nvPr/>
        </p:nvSpPr>
        <p:spPr>
          <a:xfrm>
            <a:off x="640080" y="4608576"/>
            <a:ext cx="54864" cy="1280160"/>
          </a:xfrm>
          <a:prstGeom prst="rect">
            <a:avLst/>
          </a:prstGeom>
          <a:solidFill>
            <a:srgbClr val="A371F7"/>
          </a:solidFill>
          <a:ln/>
        </p:spPr>
      </p:sp>
      <p:sp>
        <p:nvSpPr>
          <p:cNvPr id="21" name="Shape 19"/>
          <p:cNvSpPr/>
          <p:nvPr/>
        </p:nvSpPr>
        <p:spPr>
          <a:xfrm>
            <a:off x="914400" y="4937760"/>
            <a:ext cx="621792" cy="621792"/>
          </a:xfrm>
          <a:prstGeom prst="roundRect">
            <a:avLst>
              <a:gd name="adj" fmla="val 17647"/>
            </a:avLst>
          </a:prstGeom>
          <a:solidFill>
            <a:srgbClr val="1C2430"/>
          </a:solidFill>
          <a:ln w="15875">
            <a:solidFill>
              <a:srgbClr val="A371F7"/>
            </a:solidFill>
            <a:prstDash val="solid"/>
          </a:ln>
        </p:spPr>
      </p:sp>
      <p:sp>
        <p:nvSpPr>
          <p:cNvPr id="22" name="Text 20"/>
          <p:cNvSpPr/>
          <p:nvPr/>
        </p:nvSpPr>
        <p:spPr>
          <a:xfrm>
            <a:off x="914400" y="4937760"/>
            <a:ext cx="621792" cy="621792"/>
          </a:xfrm>
          <a:prstGeom prst="rect">
            <a:avLst/>
          </a:prstGeom>
          <a:noFill/>
          <a:ln/>
        </p:spPr>
        <p:txBody>
          <a:bodyPr wrap="square" lIns="0" tIns="0" rIns="0" bIns="0" rtlCol="0" anchor="ctr"/>
          <a:lstStyle/>
          <a:p>
            <a:pPr algn="ctr" indent="0" marL="0">
              <a:buNone/>
            </a:pPr>
            <a:r>
              <a:rPr lang="en-US" sz="1600" b="1" dirty="0">
                <a:solidFill>
                  <a:srgbClr val="A371F7"/>
                </a:solidFill>
                <a:latin typeface="Consolas" pitchFamily="34" charset="0"/>
                <a:ea typeface="Consolas" pitchFamily="34" charset="-122"/>
                <a:cs typeface="Consolas" pitchFamily="34" charset="-120"/>
              </a:rPr>
              <a:t>03</a:t>
            </a:r>
            <a:endParaRPr lang="en-US" sz="1600" dirty="0"/>
          </a:p>
        </p:txBody>
      </p:sp>
      <p:sp>
        <p:nvSpPr>
          <p:cNvPr id="23" name="Text 21"/>
          <p:cNvSpPr/>
          <p:nvPr/>
        </p:nvSpPr>
        <p:spPr>
          <a:xfrm>
            <a:off x="1700784" y="4828032"/>
            <a:ext cx="4608576" cy="347472"/>
          </a:xfrm>
          <a:prstGeom prst="rect">
            <a:avLst/>
          </a:prstGeom>
          <a:noFill/>
          <a:ln/>
        </p:spPr>
        <p:txBody>
          <a:bodyPr wrap="square" lIns="0" tIns="0" rIns="0" bIns="0" rtlCol="0" anchor="ctr"/>
          <a:lstStyle/>
          <a:p>
            <a:pPr indent="0" marL="0">
              <a:buNone/>
            </a:pPr>
            <a:r>
              <a:rPr lang="en-US" sz="1600" b="1" dirty="0">
                <a:solidFill>
                  <a:srgbClr val="E6EDF3"/>
                </a:solidFill>
                <a:latin typeface="Trebuchet MS" pitchFamily="34" charset="0"/>
                <a:ea typeface="Trebuchet MS" pitchFamily="34" charset="-122"/>
                <a:cs typeface="Trebuchet MS" pitchFamily="34" charset="-120"/>
              </a:rPr>
              <a:t>Review the pull request</a:t>
            </a:r>
            <a:endParaRPr lang="en-US" sz="1600" dirty="0"/>
          </a:p>
        </p:txBody>
      </p:sp>
      <p:sp>
        <p:nvSpPr>
          <p:cNvPr id="24" name="Text 22"/>
          <p:cNvSpPr/>
          <p:nvPr/>
        </p:nvSpPr>
        <p:spPr>
          <a:xfrm>
            <a:off x="1700784" y="5193792"/>
            <a:ext cx="4608576" cy="548640"/>
          </a:xfrm>
          <a:prstGeom prst="rect">
            <a:avLst/>
          </a:prstGeom>
          <a:noFill/>
          <a:ln/>
        </p:spPr>
        <p:txBody>
          <a:bodyPr wrap="square" lIns="0" tIns="0" rIns="0" bIns="0" rtlCol="0" anchor="ctr"/>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It arrives as a PR with least-privilege permissions set by default. Read it, change it, merge it.</a:t>
            </a:r>
            <a:endParaRPr lang="en-US" sz="1200" dirty="0"/>
          </a:p>
        </p:txBody>
      </p:sp>
      <p:pic>
        <p:nvPicPr>
          <p:cNvPr id="25" name="Image 0" descr="C:\Users\sedorset\.copilot\session-state\e38fb374-7a8d-4606-9843-ab48504d2be7\files\deck\shot-coverage.png">    </p:cNvPr>
          <p:cNvPicPr>
            <a:picLocks noChangeAspect="1"/>
          </p:cNvPicPr>
          <p:nvPr/>
        </p:nvPicPr>
        <p:blipFill>
          <a:blip r:embed="rId1"/>
          <a:stretch>
            <a:fillRect/>
          </a:stretch>
        </p:blipFill>
        <p:spPr>
          <a:xfrm>
            <a:off x="7040880" y="1682496"/>
            <a:ext cx="4507992" cy="2153412"/>
          </a:xfrm>
          <a:prstGeom prst="rect">
            <a:avLst/>
          </a:prstGeom>
        </p:spPr>
      </p:pic>
      <p:sp>
        <p:nvSpPr>
          <p:cNvPr id="26" name="Text 23"/>
          <p:cNvSpPr/>
          <p:nvPr/>
        </p:nvSpPr>
        <p:spPr>
          <a:xfrm>
            <a:off x="7040880" y="3931920"/>
            <a:ext cx="4507992" cy="292608"/>
          </a:xfrm>
          <a:prstGeom prst="rect">
            <a:avLst/>
          </a:prstGeom>
          <a:noFill/>
          <a:ln/>
        </p:spPr>
        <p:txBody>
          <a:bodyPr wrap="square" lIns="0" tIns="0" rIns="0" bIns="0" rtlCol="0" anchor="ctr"/>
          <a:lstStyle/>
          <a:p>
            <a:pPr indent="0" marL="0">
              <a:buNone/>
            </a:pPr>
            <a:r>
              <a:rPr lang="en-US" sz="1050" i="1" dirty="0">
                <a:solidFill>
                  <a:srgbClr val="8B949E"/>
                </a:solidFill>
                <a:latin typeface="Calibri" pitchFamily="34" charset="0"/>
                <a:ea typeface="Calibri" pitchFamily="34" charset="-122"/>
                <a:cs typeface="Calibri" pitchFamily="34" charset="-120"/>
              </a:rPr>
              <a:t>The switch sits alongside your other Code Quality settings.</a:t>
            </a:r>
            <a:endParaRPr lang="en-US" sz="1050" dirty="0"/>
          </a:p>
        </p:txBody>
      </p:sp>
      <p:sp>
        <p:nvSpPr>
          <p:cNvPr id="27" name="Shape 24"/>
          <p:cNvSpPr/>
          <p:nvPr/>
        </p:nvSpPr>
        <p:spPr>
          <a:xfrm>
            <a:off x="7040880" y="4517136"/>
            <a:ext cx="4507992" cy="1371600"/>
          </a:xfrm>
          <a:prstGeom prst="rect">
            <a:avLst/>
          </a:prstGeom>
          <a:solidFill>
            <a:srgbClr val="1C2430"/>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8" name="Shape 25"/>
          <p:cNvSpPr/>
          <p:nvPr/>
        </p:nvSpPr>
        <p:spPr>
          <a:xfrm>
            <a:off x="7040880" y="4517136"/>
            <a:ext cx="54864" cy="1371600"/>
          </a:xfrm>
          <a:prstGeom prst="rect">
            <a:avLst/>
          </a:prstGeom>
          <a:solidFill>
            <a:srgbClr val="F0883E"/>
          </a:solidFill>
          <a:ln/>
        </p:spPr>
      </p:sp>
      <p:pic>
        <p:nvPicPr>
          <p:cNvPr id="29" name="Image 1" descr="preencoded.png">    </p:cNvPr>
          <p:cNvPicPr>
            <a:picLocks noChangeAspect="1"/>
          </p:cNvPicPr>
          <p:nvPr/>
        </p:nvPicPr>
        <p:blipFill>
          <a:blip r:embed="rId2"/>
          <a:stretch>
            <a:fillRect/>
          </a:stretch>
        </p:blipFill>
        <p:spPr>
          <a:xfrm>
            <a:off x="7315200" y="4754880"/>
            <a:ext cx="310896" cy="310896"/>
          </a:xfrm>
          <a:prstGeom prst="rect">
            <a:avLst/>
          </a:prstGeom>
        </p:spPr>
      </p:pic>
      <p:sp>
        <p:nvSpPr>
          <p:cNvPr id="30" name="Text 26"/>
          <p:cNvSpPr/>
          <p:nvPr/>
        </p:nvSpPr>
        <p:spPr>
          <a:xfrm>
            <a:off x="7735824" y="4754880"/>
            <a:ext cx="3538728" cy="310896"/>
          </a:xfrm>
          <a:prstGeom prst="rect">
            <a:avLst/>
          </a:prstGeom>
          <a:noFill/>
          <a:ln/>
        </p:spPr>
        <p:txBody>
          <a:bodyPr wrap="square" lIns="0" tIns="0" rIns="0" bIns="0" rtlCol="0" anchor="ctr"/>
          <a:lstStyle/>
          <a:p>
            <a:pPr indent="0" marL="0">
              <a:buNone/>
            </a:pPr>
            <a:r>
              <a:rPr lang="en-US" sz="1450" b="1" dirty="0">
                <a:solidFill>
                  <a:srgbClr val="E6EDF3"/>
                </a:solidFill>
                <a:latin typeface="Trebuchet MS" pitchFamily="34" charset="0"/>
                <a:ea typeface="Trebuchet MS" pitchFamily="34" charset="-122"/>
                <a:cs typeface="Trebuchet MS" pitchFamily="34" charset="-120"/>
              </a:rPr>
              <a:t>Public preview</a:t>
            </a:r>
            <a:endParaRPr lang="en-US" sz="1450" dirty="0"/>
          </a:p>
        </p:txBody>
      </p:sp>
      <p:sp>
        <p:nvSpPr>
          <p:cNvPr id="31" name="Text 27"/>
          <p:cNvSpPr/>
          <p:nvPr/>
        </p:nvSpPr>
        <p:spPr>
          <a:xfrm>
            <a:off x="7315200" y="5157216"/>
            <a:ext cx="3959352" cy="621792"/>
          </a:xfrm>
          <a:prstGeom prst="rect">
            <a:avLst/>
          </a:prstGeom>
          <a:noFill/>
          <a:ln/>
        </p:spPr>
        <p:txBody>
          <a:bodyPr wrap="square" lIns="0" tIns="0" rIns="0" bIns="0" rtlCol="0" anchor="ctr"/>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Available to GitHub Code Quality users on github.com - GHEC and Team. Not available on GHES.</a:t>
            </a:r>
            <a:endParaRPr lang="en-US" sz="1200" dirty="0"/>
          </a:p>
        </p:txBody>
      </p:sp>
      <p:sp>
        <p:nvSpPr>
          <p:cNvPr id="32" name="Text 28"/>
          <p:cNvSpPr/>
          <p:nvPr/>
        </p:nvSpPr>
        <p:spPr>
          <a:xfrm>
            <a:off x="640080" y="6309360"/>
            <a:ext cx="6949440" cy="274320"/>
          </a:xfrm>
          <a:prstGeom prst="rect">
            <a:avLst/>
          </a:prstGeom>
          <a:noFill/>
          <a:ln/>
        </p:spPr>
        <p:txBody>
          <a:bodyPr wrap="square" lIns="0" tIns="0" rIns="0" bIns="0" rtlCol="0" anchor="ctr"/>
          <a:lstStyle/>
          <a:p>
            <a:pPr indent="0" marL="0">
              <a:buNone/>
            </a:pPr>
            <a:r>
              <a:rPr lang="en-US" sz="900" dirty="0">
                <a:solidFill>
                  <a:srgbClr val="8B949E"/>
                </a:solidFill>
                <a:latin typeface="Consolas" pitchFamily="34" charset="0"/>
                <a:ea typeface="Consolas" pitchFamily="34" charset="-122"/>
                <a:cs typeface="Consolas" pitchFamily="34" charset="-120"/>
              </a:rPr>
              <a:t>changelog: code-coverage-automatic-enablement-in-code-quality-settings</a:t>
            </a:r>
            <a:endParaRPr lang="en-US" sz="900" dirty="0"/>
          </a:p>
        </p:txBody>
      </p:sp>
      <p:sp>
        <p:nvSpPr>
          <p:cNvPr id="33" name="Text 29"/>
          <p:cNvSpPr/>
          <p:nvPr/>
        </p:nvSpPr>
        <p:spPr>
          <a:xfrm>
            <a:off x="7345375" y="6309360"/>
            <a:ext cx="4206240" cy="27432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AUG 4, 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640080" y="475488"/>
            <a:ext cx="50292" cy="219456"/>
          </a:xfrm>
          <a:prstGeom prst="rect">
            <a:avLst/>
          </a:prstGeom>
          <a:solidFill>
            <a:srgbClr val="2F81F7"/>
          </a:solidFill>
          <a:ln/>
        </p:spPr>
      </p:sp>
      <p:sp>
        <p:nvSpPr>
          <p:cNvPr id="3" name="Text 1"/>
          <p:cNvSpPr/>
          <p:nvPr/>
        </p:nvSpPr>
        <p:spPr>
          <a:xfrm>
            <a:off x="786384" y="438912"/>
            <a:ext cx="7772400" cy="292608"/>
          </a:xfrm>
          <a:prstGeom prst="rect">
            <a:avLst/>
          </a:prstGeom>
          <a:noFill/>
          <a:ln/>
        </p:spPr>
        <p:txBody>
          <a:bodyPr wrap="square" lIns="0" tIns="0" rIns="0" bIns="0" rtlCol="0" anchor="ctr"/>
          <a:lstStyle/>
          <a:p>
            <a:pPr indent="0" marL="0">
              <a:buNone/>
            </a:pPr>
            <a:r>
              <a:rPr lang="en-US" sz="1050" b="1" spc="140" kern="0" dirty="0">
                <a:solidFill>
                  <a:srgbClr val="2F81F7"/>
                </a:solidFill>
                <a:latin typeface="Consolas" pitchFamily="34" charset="0"/>
                <a:ea typeface="Consolas" pitchFamily="34" charset="-122"/>
                <a:cs typeface="Consolas" pitchFamily="34" charset="-120"/>
              </a:rPr>
              <a:t>JUN 25, 2026  /  RUNNERS</a:t>
            </a:r>
            <a:endParaRPr lang="en-US" sz="1050" dirty="0"/>
          </a:p>
        </p:txBody>
      </p:sp>
      <p:sp>
        <p:nvSpPr>
          <p:cNvPr id="4" name="Text 2"/>
          <p:cNvSpPr/>
          <p:nvPr/>
        </p:nvSpPr>
        <p:spPr>
          <a:xfrm>
            <a:off x="640080" y="786384"/>
            <a:ext cx="10911535" cy="713232"/>
          </a:xfrm>
          <a:prstGeom prst="rect">
            <a:avLst/>
          </a:prstGeom>
          <a:noFill/>
          <a:ln/>
        </p:spPr>
        <p:txBody>
          <a:bodyPr wrap="square" lIns="0" tIns="0" rIns="0" bIns="0" rtlCol="0" anchor="ctr"/>
          <a:lstStyle/>
          <a:p>
            <a:pPr indent="0" marL="0">
              <a:buNone/>
            </a:pPr>
            <a:r>
              <a:rPr lang="en-US" sz="3300" b="1" dirty="0">
                <a:solidFill>
                  <a:srgbClr val="E6EDF3"/>
                </a:solidFill>
                <a:latin typeface="Trebuchet MS" pitchFamily="34" charset="0"/>
                <a:ea typeface="Trebuchet MS" pitchFamily="34" charset="-122"/>
                <a:cs typeface="Trebuchet MS" pitchFamily="34" charset="-120"/>
              </a:rPr>
              <a:t>More control over your GitHub-hosted runners</a:t>
            </a:r>
            <a:endParaRPr lang="en-US" sz="3300" dirty="0"/>
          </a:p>
        </p:txBody>
      </p:sp>
      <p:sp>
        <p:nvSpPr>
          <p:cNvPr id="5" name="Shape 3"/>
          <p:cNvSpPr/>
          <p:nvPr/>
        </p:nvSpPr>
        <p:spPr>
          <a:xfrm>
            <a:off x="640080" y="1682496"/>
            <a:ext cx="3227832" cy="196596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6" name="Shape 4"/>
          <p:cNvSpPr/>
          <p:nvPr/>
        </p:nvSpPr>
        <p:spPr>
          <a:xfrm>
            <a:off x="640080" y="1682496"/>
            <a:ext cx="54864" cy="1965960"/>
          </a:xfrm>
          <a:prstGeom prst="rect">
            <a:avLst/>
          </a:prstGeom>
          <a:solidFill>
            <a:srgbClr val="2F81F7"/>
          </a:solidFill>
          <a:ln/>
        </p:spPr>
      </p:sp>
      <p:pic>
        <p:nvPicPr>
          <p:cNvPr id="7" name="Image 0" descr="preencoded.png">    </p:cNvPr>
          <p:cNvPicPr>
            <a:picLocks noChangeAspect="1"/>
          </p:cNvPicPr>
          <p:nvPr/>
        </p:nvPicPr>
        <p:blipFill>
          <a:blip r:embed="rId1"/>
          <a:stretch>
            <a:fillRect/>
          </a:stretch>
        </p:blipFill>
        <p:spPr>
          <a:xfrm>
            <a:off x="914400" y="1956816"/>
            <a:ext cx="310896" cy="310896"/>
          </a:xfrm>
          <a:prstGeom prst="rect">
            <a:avLst/>
          </a:prstGeom>
        </p:spPr>
      </p:pic>
      <p:sp>
        <p:nvSpPr>
          <p:cNvPr id="8" name="Text 5"/>
          <p:cNvSpPr/>
          <p:nvPr/>
        </p:nvSpPr>
        <p:spPr>
          <a:xfrm>
            <a:off x="1335024" y="1901952"/>
            <a:ext cx="2258568" cy="566928"/>
          </a:xfrm>
          <a:prstGeom prst="rect">
            <a:avLst/>
          </a:prstGeom>
          <a:noFill/>
          <a:ln/>
        </p:spPr>
        <p:txBody>
          <a:bodyPr wrap="square" lIns="0" tIns="0" rIns="0" bIns="0" rtlCol="0" anchor="ctr"/>
          <a:lstStyle/>
          <a:p>
            <a:pPr indent="0" marL="0">
              <a:lnSpc>
                <a:spcPts val="1900"/>
              </a:lnSpc>
              <a:buNone/>
            </a:pPr>
            <a:r>
              <a:rPr lang="en-US" sz="1450" b="1" dirty="0">
                <a:solidFill>
                  <a:srgbClr val="E6EDF3"/>
                </a:solidFill>
                <a:latin typeface="Trebuchet MS" pitchFamily="34" charset="0"/>
                <a:ea typeface="Trebuchet MS" pitchFamily="34" charset="-122"/>
                <a:cs typeface="Trebuchet MS" pitchFamily="34" charset="-120"/>
              </a:rPr>
              <a:t>macOS joins runner groups</a:t>
            </a:r>
            <a:endParaRPr lang="en-US" sz="1450" dirty="0"/>
          </a:p>
        </p:txBody>
      </p:sp>
      <p:sp>
        <p:nvSpPr>
          <p:cNvPr id="9" name="Text 6"/>
          <p:cNvSpPr/>
          <p:nvPr/>
        </p:nvSpPr>
        <p:spPr>
          <a:xfrm>
            <a:off x="914400" y="2596896"/>
            <a:ext cx="2679192" cy="822960"/>
          </a:xfrm>
          <a:prstGeom prst="rect">
            <a:avLst/>
          </a:prstGeom>
          <a:noFill/>
          <a:ln/>
        </p:spPr>
        <p:txBody>
          <a:bodyPr wrap="square" lIns="0" tIns="0" rIns="0" bIns="0" rtlCol="0" anchor="t"/>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You can now put GitHub-hosted macOS runners into a runner group.</a:t>
            </a:r>
            <a:endParaRPr lang="en-US" sz="1150" dirty="0"/>
          </a:p>
        </p:txBody>
      </p:sp>
      <p:sp>
        <p:nvSpPr>
          <p:cNvPr id="10" name="Shape 7"/>
          <p:cNvSpPr/>
          <p:nvPr/>
        </p:nvSpPr>
        <p:spPr>
          <a:xfrm>
            <a:off x="4197096" y="1682496"/>
            <a:ext cx="3227832" cy="196596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11" name="Shape 8"/>
          <p:cNvSpPr/>
          <p:nvPr/>
        </p:nvSpPr>
        <p:spPr>
          <a:xfrm>
            <a:off x="4197096" y="1682496"/>
            <a:ext cx="54864" cy="1965960"/>
          </a:xfrm>
          <a:prstGeom prst="rect">
            <a:avLst/>
          </a:prstGeom>
          <a:solidFill>
            <a:srgbClr val="A371F7"/>
          </a:solidFill>
          <a:ln/>
        </p:spPr>
      </p:sp>
      <p:pic>
        <p:nvPicPr>
          <p:cNvPr id="12" name="Image 1" descr="preencoded.png">    </p:cNvPr>
          <p:cNvPicPr>
            <a:picLocks noChangeAspect="1"/>
          </p:cNvPicPr>
          <p:nvPr/>
        </p:nvPicPr>
        <p:blipFill>
          <a:blip r:embed="rId2"/>
          <a:stretch>
            <a:fillRect/>
          </a:stretch>
        </p:blipFill>
        <p:spPr>
          <a:xfrm>
            <a:off x="4471416" y="1956816"/>
            <a:ext cx="310896" cy="310896"/>
          </a:xfrm>
          <a:prstGeom prst="rect">
            <a:avLst/>
          </a:prstGeom>
        </p:spPr>
      </p:pic>
      <p:sp>
        <p:nvSpPr>
          <p:cNvPr id="13" name="Text 9"/>
          <p:cNvSpPr/>
          <p:nvPr/>
        </p:nvSpPr>
        <p:spPr>
          <a:xfrm>
            <a:off x="4892040" y="1901952"/>
            <a:ext cx="2258568" cy="566928"/>
          </a:xfrm>
          <a:prstGeom prst="rect">
            <a:avLst/>
          </a:prstGeom>
          <a:noFill/>
          <a:ln/>
        </p:spPr>
        <p:txBody>
          <a:bodyPr wrap="square" lIns="0" tIns="0" rIns="0" bIns="0" rtlCol="0" anchor="ctr"/>
          <a:lstStyle/>
          <a:p>
            <a:pPr indent="0" marL="0">
              <a:lnSpc>
                <a:spcPts val="1900"/>
              </a:lnSpc>
              <a:buNone/>
            </a:pPr>
            <a:r>
              <a:rPr lang="en-US" sz="1450" b="1" dirty="0">
                <a:solidFill>
                  <a:srgbClr val="E6EDF3"/>
                </a:solidFill>
                <a:latin typeface="Trebuchet MS" pitchFamily="34" charset="0"/>
                <a:ea typeface="Trebuchet MS" pitchFamily="34" charset="-122"/>
                <a:cs typeface="Trebuchet MS" pitchFamily="34" charset="-120"/>
              </a:rPr>
              <a:t>Scope who can use them</a:t>
            </a:r>
            <a:endParaRPr lang="en-US" sz="1450" dirty="0"/>
          </a:p>
        </p:txBody>
      </p:sp>
      <p:sp>
        <p:nvSpPr>
          <p:cNvPr id="14" name="Text 10"/>
          <p:cNvSpPr/>
          <p:nvPr/>
        </p:nvSpPr>
        <p:spPr>
          <a:xfrm>
            <a:off x="4471416" y="2596896"/>
            <a:ext cx="2679192" cy="822960"/>
          </a:xfrm>
          <a:prstGeom prst="rect">
            <a:avLst/>
          </a:prstGeom>
          <a:noFill/>
          <a:ln/>
        </p:spPr>
        <p:txBody>
          <a:bodyPr wrap="square" lIns="0" tIns="0" rIns="0" bIns="0" rtlCol="0" anchor="t"/>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Restrict a group by organization, repository or workflow.</a:t>
            </a:r>
            <a:endParaRPr lang="en-US" sz="1150" dirty="0"/>
          </a:p>
        </p:txBody>
      </p:sp>
      <p:sp>
        <p:nvSpPr>
          <p:cNvPr id="15" name="Shape 11"/>
          <p:cNvSpPr/>
          <p:nvPr/>
        </p:nvSpPr>
        <p:spPr>
          <a:xfrm>
            <a:off x="640080" y="3922776"/>
            <a:ext cx="3227832" cy="196596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16" name="Shape 12"/>
          <p:cNvSpPr/>
          <p:nvPr/>
        </p:nvSpPr>
        <p:spPr>
          <a:xfrm>
            <a:off x="640080" y="3922776"/>
            <a:ext cx="54864" cy="1965960"/>
          </a:xfrm>
          <a:prstGeom prst="rect">
            <a:avLst/>
          </a:prstGeom>
          <a:solidFill>
            <a:srgbClr val="3FB950"/>
          </a:solidFill>
          <a:ln/>
        </p:spPr>
      </p:sp>
      <p:pic>
        <p:nvPicPr>
          <p:cNvPr id="17" name="Image 2" descr="preencoded.png">    </p:cNvPr>
          <p:cNvPicPr>
            <a:picLocks noChangeAspect="1"/>
          </p:cNvPicPr>
          <p:nvPr/>
        </p:nvPicPr>
        <p:blipFill>
          <a:blip r:embed="rId3"/>
          <a:stretch>
            <a:fillRect/>
          </a:stretch>
        </p:blipFill>
        <p:spPr>
          <a:xfrm>
            <a:off x="914400" y="4197096"/>
            <a:ext cx="310896" cy="310896"/>
          </a:xfrm>
          <a:prstGeom prst="rect">
            <a:avLst/>
          </a:prstGeom>
        </p:spPr>
      </p:pic>
      <p:sp>
        <p:nvSpPr>
          <p:cNvPr id="18" name="Text 13"/>
          <p:cNvSpPr/>
          <p:nvPr/>
        </p:nvSpPr>
        <p:spPr>
          <a:xfrm>
            <a:off x="1335024" y="4142232"/>
            <a:ext cx="2258568" cy="566928"/>
          </a:xfrm>
          <a:prstGeom prst="rect">
            <a:avLst/>
          </a:prstGeom>
          <a:noFill/>
          <a:ln/>
        </p:spPr>
        <p:txBody>
          <a:bodyPr wrap="square" lIns="0" tIns="0" rIns="0" bIns="0" rtlCol="0" anchor="ctr"/>
          <a:lstStyle/>
          <a:p>
            <a:pPr indent="0" marL="0">
              <a:lnSpc>
                <a:spcPts val="1900"/>
              </a:lnSpc>
              <a:buNone/>
            </a:pPr>
            <a:r>
              <a:rPr lang="en-US" sz="1450" b="1" dirty="0">
                <a:solidFill>
                  <a:srgbClr val="E6EDF3"/>
                </a:solidFill>
                <a:latin typeface="Trebuchet MS" pitchFamily="34" charset="0"/>
                <a:ea typeface="Trebuchet MS" pitchFamily="34" charset="-122"/>
                <a:cs typeface="Trebuchet MS" pitchFamily="34" charset="-120"/>
              </a:rPr>
              <a:t>Cap concurrency</a:t>
            </a:r>
            <a:endParaRPr lang="en-US" sz="1450" dirty="0"/>
          </a:p>
        </p:txBody>
      </p:sp>
      <p:sp>
        <p:nvSpPr>
          <p:cNvPr id="19" name="Text 14"/>
          <p:cNvSpPr/>
          <p:nvPr/>
        </p:nvSpPr>
        <p:spPr>
          <a:xfrm>
            <a:off x="914400" y="4837176"/>
            <a:ext cx="2679192" cy="822960"/>
          </a:xfrm>
          <a:prstGeom prst="rect">
            <a:avLst/>
          </a:prstGeom>
          <a:noFill/>
          <a:ln/>
        </p:spPr>
        <p:txBody>
          <a:bodyPr wrap="square" lIns="0" tIns="0" rIns="0" bIns="0" rtlCol="0" anchor="t"/>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Enforce concurrency limits so one team's pipeline cannot starve the rest.</a:t>
            </a:r>
            <a:endParaRPr lang="en-US" sz="1150" dirty="0"/>
          </a:p>
        </p:txBody>
      </p:sp>
      <p:sp>
        <p:nvSpPr>
          <p:cNvPr id="20" name="Shape 15"/>
          <p:cNvSpPr/>
          <p:nvPr/>
        </p:nvSpPr>
        <p:spPr>
          <a:xfrm>
            <a:off x="4197096" y="3922776"/>
            <a:ext cx="3227832" cy="1965960"/>
          </a:xfrm>
          <a:prstGeom prst="rect">
            <a:avLst/>
          </a:prstGeom>
          <a:solidFill>
            <a:srgbClr val="161B22"/>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1" name="Shape 16"/>
          <p:cNvSpPr/>
          <p:nvPr/>
        </p:nvSpPr>
        <p:spPr>
          <a:xfrm>
            <a:off x="4197096" y="3922776"/>
            <a:ext cx="54864" cy="1965960"/>
          </a:xfrm>
          <a:prstGeom prst="rect">
            <a:avLst/>
          </a:prstGeom>
          <a:solidFill>
            <a:srgbClr val="F0883E"/>
          </a:solidFill>
          <a:ln/>
        </p:spPr>
      </p:sp>
      <p:pic>
        <p:nvPicPr>
          <p:cNvPr id="22" name="Image 3" descr="preencoded.png">    </p:cNvPr>
          <p:cNvPicPr>
            <a:picLocks noChangeAspect="1"/>
          </p:cNvPicPr>
          <p:nvPr/>
        </p:nvPicPr>
        <p:blipFill>
          <a:blip r:embed="rId4"/>
          <a:stretch>
            <a:fillRect/>
          </a:stretch>
        </p:blipFill>
        <p:spPr>
          <a:xfrm>
            <a:off x="4471416" y="4197096"/>
            <a:ext cx="310896" cy="310896"/>
          </a:xfrm>
          <a:prstGeom prst="rect">
            <a:avLst/>
          </a:prstGeom>
        </p:spPr>
      </p:pic>
      <p:sp>
        <p:nvSpPr>
          <p:cNvPr id="23" name="Text 17"/>
          <p:cNvSpPr/>
          <p:nvPr/>
        </p:nvSpPr>
        <p:spPr>
          <a:xfrm>
            <a:off x="4892040" y="4142232"/>
            <a:ext cx="2258568" cy="566928"/>
          </a:xfrm>
          <a:prstGeom prst="rect">
            <a:avLst/>
          </a:prstGeom>
          <a:noFill/>
          <a:ln/>
        </p:spPr>
        <p:txBody>
          <a:bodyPr wrap="square" lIns="0" tIns="0" rIns="0" bIns="0" rtlCol="0" anchor="ctr"/>
          <a:lstStyle/>
          <a:p>
            <a:pPr indent="0" marL="0">
              <a:lnSpc>
                <a:spcPts val="1900"/>
              </a:lnSpc>
              <a:buNone/>
            </a:pPr>
            <a:r>
              <a:rPr lang="en-US" sz="1450" b="1" dirty="0">
                <a:solidFill>
                  <a:srgbClr val="E6EDF3"/>
                </a:solidFill>
                <a:latin typeface="Trebuchet MS" pitchFamily="34" charset="0"/>
                <a:ea typeface="Trebuchet MS" pitchFamily="34" charset="-122"/>
                <a:cs typeface="Trebuchet MS" pitchFamily="34" charset="-120"/>
              </a:rPr>
              <a:t>Switch off default labels</a:t>
            </a:r>
            <a:endParaRPr lang="en-US" sz="1450" dirty="0"/>
          </a:p>
        </p:txBody>
      </p:sp>
      <p:sp>
        <p:nvSpPr>
          <p:cNvPr id="24" name="Text 18"/>
          <p:cNvSpPr/>
          <p:nvPr/>
        </p:nvSpPr>
        <p:spPr>
          <a:xfrm>
            <a:off x="4471416" y="4837176"/>
            <a:ext cx="2679192" cy="822960"/>
          </a:xfrm>
          <a:prstGeom prst="rect">
            <a:avLst/>
          </a:prstGeom>
          <a:noFill/>
          <a:ln/>
        </p:spPr>
        <p:txBody>
          <a:bodyPr wrap="square" lIns="0" tIns="0" rIns="0" bIns="0" rtlCol="0" anchor="t"/>
          <a:lstStyle/>
          <a:p>
            <a:pPr indent="0" marL="0">
              <a:lnSpc>
                <a:spcPts val="1500"/>
              </a:lnSpc>
              <a:buNone/>
            </a:pPr>
            <a:r>
              <a:rPr lang="en-US" sz="1150" dirty="0">
                <a:solidFill>
                  <a:srgbClr val="8B949E"/>
                </a:solidFill>
                <a:latin typeface="Calibri" pitchFamily="34" charset="0"/>
                <a:ea typeface="Calibri" pitchFamily="34" charset="-122"/>
                <a:cs typeface="Calibri" pitchFamily="34" charset="-120"/>
              </a:rPr>
              <a:t>Disable standard labels such as ubuntu-latest to force jobs through a group.</a:t>
            </a:r>
            <a:endParaRPr lang="en-US" sz="1150" dirty="0"/>
          </a:p>
        </p:txBody>
      </p:sp>
      <p:sp>
        <p:nvSpPr>
          <p:cNvPr id="25" name="Shape 19"/>
          <p:cNvSpPr/>
          <p:nvPr/>
        </p:nvSpPr>
        <p:spPr>
          <a:xfrm>
            <a:off x="7793431" y="1682496"/>
            <a:ext cx="3758184" cy="883310"/>
          </a:xfrm>
          <a:prstGeom prst="roundRect">
            <a:avLst>
              <a:gd name="adj" fmla="val 5176"/>
            </a:avLst>
          </a:prstGeom>
          <a:solidFill>
            <a:srgbClr val="FFFFFF"/>
          </a:solidFill>
          <a:ln w="12700">
            <a:solidFill>
              <a:srgbClr val="30363D"/>
            </a:solidFill>
            <a:prstDash val="solid"/>
          </a:ln>
        </p:spPr>
      </p:sp>
      <p:pic>
        <p:nvPicPr>
          <p:cNvPr id="26" name="Image 4" descr="C:\Users\sedorset\.copilot\session-state\e38fb374-7a8d-4606-9843-ab48504d2be7\files\deck\shot-runners.png">    </p:cNvPr>
          <p:cNvPicPr>
            <a:picLocks noChangeAspect="1"/>
          </p:cNvPicPr>
          <p:nvPr/>
        </p:nvPicPr>
        <p:blipFill>
          <a:blip r:embed="rId5"/>
          <a:stretch>
            <a:fillRect/>
          </a:stretch>
        </p:blipFill>
        <p:spPr>
          <a:xfrm>
            <a:off x="7875727" y="1764792"/>
            <a:ext cx="3593592" cy="718718"/>
          </a:xfrm>
          <a:prstGeom prst="rect">
            <a:avLst/>
          </a:prstGeom>
        </p:spPr>
      </p:pic>
      <p:sp>
        <p:nvSpPr>
          <p:cNvPr id="27" name="Text 20"/>
          <p:cNvSpPr/>
          <p:nvPr/>
        </p:nvSpPr>
        <p:spPr>
          <a:xfrm>
            <a:off x="7793431" y="2651760"/>
            <a:ext cx="3758184" cy="457200"/>
          </a:xfrm>
          <a:prstGeom prst="rect">
            <a:avLst/>
          </a:prstGeom>
          <a:noFill/>
          <a:ln/>
        </p:spPr>
        <p:txBody>
          <a:bodyPr wrap="square" lIns="0" tIns="0" rIns="0" bIns="0" rtlCol="0" anchor="ctr"/>
          <a:lstStyle/>
          <a:p>
            <a:pPr indent="0" marL="0">
              <a:lnSpc>
                <a:spcPts val="1400"/>
              </a:lnSpc>
              <a:buNone/>
            </a:pPr>
            <a:r>
              <a:rPr lang="en-US" sz="1050" i="1" dirty="0">
                <a:solidFill>
                  <a:srgbClr val="8B949E"/>
                </a:solidFill>
                <a:latin typeface="Calibri" pitchFamily="34" charset="0"/>
                <a:ea typeface="Calibri" pitchFamily="34" charset="-122"/>
                <a:cs typeface="Calibri" pitchFamily="34" charset="-120"/>
              </a:rPr>
              <a:t>One checkbox takes ubuntu-latest away from every repository in the org.</a:t>
            </a:r>
            <a:endParaRPr lang="en-US" sz="1050" dirty="0"/>
          </a:p>
        </p:txBody>
      </p:sp>
      <p:sp>
        <p:nvSpPr>
          <p:cNvPr id="28" name="Shape 21"/>
          <p:cNvSpPr/>
          <p:nvPr/>
        </p:nvSpPr>
        <p:spPr>
          <a:xfrm>
            <a:off x="7793431" y="3200400"/>
            <a:ext cx="3758184" cy="2148840"/>
          </a:xfrm>
          <a:prstGeom prst="rect">
            <a:avLst/>
          </a:prstGeom>
          <a:solidFill>
            <a:srgbClr val="1C2430"/>
          </a:solidFill>
          <a:ln w="9525">
            <a:solidFill>
              <a:srgbClr val="30363D"/>
            </a:solidFill>
            <a:prstDash val="solid"/>
          </a:ln>
          <a:effectLst>
            <a:outerShdw sx="100000" sy="100000" kx="0" ky="0" algn="bl" rotWithShape="0" blurRad="127000" dist="38100" dir="5400000">
              <a:srgbClr val="000000">
                <a:alpha val="35000"/>
              </a:srgbClr>
            </a:outerShdw>
          </a:effectLst>
        </p:spPr>
      </p:sp>
      <p:sp>
        <p:nvSpPr>
          <p:cNvPr id="29" name="Shape 22"/>
          <p:cNvSpPr/>
          <p:nvPr/>
        </p:nvSpPr>
        <p:spPr>
          <a:xfrm>
            <a:off x="7793431" y="3200400"/>
            <a:ext cx="54864" cy="2148840"/>
          </a:xfrm>
          <a:prstGeom prst="rect">
            <a:avLst/>
          </a:prstGeom>
          <a:solidFill>
            <a:srgbClr val="F0883E"/>
          </a:solidFill>
          <a:ln/>
        </p:spPr>
      </p:sp>
      <p:pic>
        <p:nvPicPr>
          <p:cNvPr id="30" name="Image 5" descr="preencoded.png">    </p:cNvPr>
          <p:cNvPicPr>
            <a:picLocks noChangeAspect="1"/>
          </p:cNvPicPr>
          <p:nvPr/>
        </p:nvPicPr>
        <p:blipFill>
          <a:blip r:embed="rId6"/>
          <a:stretch>
            <a:fillRect/>
          </a:stretch>
        </p:blipFill>
        <p:spPr>
          <a:xfrm>
            <a:off x="8067751" y="3438144"/>
            <a:ext cx="310896" cy="310896"/>
          </a:xfrm>
          <a:prstGeom prst="rect">
            <a:avLst/>
          </a:prstGeom>
        </p:spPr>
      </p:pic>
      <p:sp>
        <p:nvSpPr>
          <p:cNvPr id="31" name="Text 23"/>
          <p:cNvSpPr/>
          <p:nvPr/>
        </p:nvSpPr>
        <p:spPr>
          <a:xfrm>
            <a:off x="8488375" y="3438144"/>
            <a:ext cx="2788920" cy="310896"/>
          </a:xfrm>
          <a:prstGeom prst="rect">
            <a:avLst/>
          </a:prstGeom>
          <a:noFill/>
          <a:ln/>
        </p:spPr>
        <p:txBody>
          <a:bodyPr wrap="square" lIns="0" tIns="0" rIns="0" bIns="0" rtlCol="0" anchor="ctr"/>
          <a:lstStyle/>
          <a:p>
            <a:pPr indent="0" marL="0">
              <a:buNone/>
            </a:pPr>
            <a:r>
              <a:rPr lang="en-US" sz="1450" b="1" dirty="0">
                <a:solidFill>
                  <a:srgbClr val="E6EDF3"/>
                </a:solidFill>
                <a:latin typeface="Trebuchet MS" pitchFamily="34" charset="0"/>
                <a:ea typeface="Trebuchet MS" pitchFamily="34" charset="-122"/>
                <a:cs typeface="Trebuchet MS" pitchFamily="34" charset="-120"/>
              </a:rPr>
              <a:t>Worth knowing</a:t>
            </a:r>
            <a:endParaRPr lang="en-US" sz="1450" dirty="0"/>
          </a:p>
        </p:txBody>
      </p:sp>
      <p:sp>
        <p:nvSpPr>
          <p:cNvPr id="32" name="Text 24"/>
          <p:cNvSpPr/>
          <p:nvPr/>
        </p:nvSpPr>
        <p:spPr>
          <a:xfrm>
            <a:off x="8067751" y="3840480"/>
            <a:ext cx="3209544" cy="1371600"/>
          </a:xfrm>
          <a:prstGeom prst="rect">
            <a:avLst/>
          </a:prstGeom>
          <a:noFill/>
          <a:ln/>
        </p:spPr>
        <p:txBody>
          <a:bodyPr wrap="square" lIns="0" tIns="0" rIns="0" bIns="0" rtlCol="0" anchor="ctr"/>
          <a:lstStyle/>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Network configurations are not supported for macOS runners at this time.</a:t>
            </a:r>
            <a:endParaRPr lang="en-US" sz="1200" dirty="0"/>
          </a:p>
          <a:p>
            <a:pPr indent="0" marL="0">
              <a:lnSpc>
                <a:spcPts val="1600"/>
              </a:lnSpc>
              <a:buNone/>
            </a:pPr>
            <a:endParaRPr lang="en-US" sz="1200" dirty="0"/>
          </a:p>
          <a:p>
            <a:pPr indent="0" marL="0">
              <a:lnSpc>
                <a:spcPts val="1600"/>
              </a:lnSpc>
              <a:buNone/>
            </a:pPr>
            <a:r>
              <a:rPr lang="en-US" sz="1200" dirty="0">
                <a:solidFill>
                  <a:srgbClr val="8B949E"/>
                </a:solidFill>
                <a:latin typeface="Calibri" pitchFamily="34" charset="0"/>
                <a:ea typeface="Calibri" pitchFamily="34" charset="-122"/>
                <a:cs typeface="Calibri" pitchFamily="34" charset="-120"/>
              </a:rPr>
              <a:t>Reference a runner group by name in your workflow to route jobs through policy.</a:t>
            </a:r>
            <a:endParaRPr lang="en-US" sz="1200" dirty="0"/>
          </a:p>
        </p:txBody>
      </p:sp>
      <p:sp>
        <p:nvSpPr>
          <p:cNvPr id="33" name="Shape 25"/>
          <p:cNvSpPr/>
          <p:nvPr/>
        </p:nvSpPr>
        <p:spPr>
          <a:xfrm>
            <a:off x="7793431" y="5596128"/>
            <a:ext cx="3758184" cy="292608"/>
          </a:xfrm>
          <a:prstGeom prst="roundRect">
            <a:avLst>
              <a:gd name="adj" fmla="val 50000"/>
            </a:avLst>
          </a:prstGeom>
          <a:solidFill>
            <a:srgbClr val="1C2430"/>
          </a:solidFill>
          <a:ln w="12700">
            <a:solidFill>
              <a:srgbClr val="2F81F7"/>
            </a:solidFill>
            <a:prstDash val="solid"/>
          </a:ln>
        </p:spPr>
      </p:sp>
      <p:sp>
        <p:nvSpPr>
          <p:cNvPr id="34" name="Text 26"/>
          <p:cNvSpPr/>
          <p:nvPr/>
        </p:nvSpPr>
        <p:spPr>
          <a:xfrm>
            <a:off x="7793431" y="5596128"/>
            <a:ext cx="3758184" cy="292608"/>
          </a:xfrm>
          <a:prstGeom prst="rect">
            <a:avLst/>
          </a:prstGeom>
          <a:noFill/>
          <a:ln/>
        </p:spPr>
        <p:txBody>
          <a:bodyPr wrap="square" lIns="0" tIns="0" rIns="0" bIns="0" rtlCol="0" anchor="ctr"/>
          <a:lstStyle/>
          <a:p>
            <a:pPr algn="ctr" indent="0" marL="0">
              <a:buNone/>
            </a:pPr>
            <a:r>
              <a:rPr lang="en-US" sz="950" b="1" dirty="0">
                <a:solidFill>
                  <a:srgbClr val="2F81F7"/>
                </a:solidFill>
                <a:latin typeface="Consolas" pitchFamily="34" charset="0"/>
                <a:ea typeface="Consolas" pitchFamily="34" charset="-122"/>
                <a:cs typeface="Consolas" pitchFamily="34" charset="-120"/>
              </a:rPr>
              <a:t>TEAM  ·  ENTERPRISE</a:t>
            </a:r>
            <a:endParaRPr lang="en-US" sz="950" dirty="0"/>
          </a:p>
        </p:txBody>
      </p:sp>
      <p:sp>
        <p:nvSpPr>
          <p:cNvPr id="35" name="Text 27"/>
          <p:cNvSpPr/>
          <p:nvPr/>
        </p:nvSpPr>
        <p:spPr>
          <a:xfrm>
            <a:off x="640080" y="6309360"/>
            <a:ext cx="6949440" cy="274320"/>
          </a:xfrm>
          <a:prstGeom prst="rect">
            <a:avLst/>
          </a:prstGeom>
          <a:noFill/>
          <a:ln/>
        </p:spPr>
        <p:txBody>
          <a:bodyPr wrap="square" lIns="0" tIns="0" rIns="0" bIns="0" rtlCol="0" anchor="ctr"/>
          <a:lstStyle/>
          <a:p>
            <a:pPr indent="0" marL="0">
              <a:buNone/>
            </a:pPr>
            <a:r>
              <a:rPr lang="en-US" sz="900" dirty="0">
                <a:solidFill>
                  <a:srgbClr val="8B949E"/>
                </a:solidFill>
                <a:latin typeface="Consolas" pitchFamily="34" charset="0"/>
                <a:ea typeface="Consolas" pitchFamily="34" charset="-122"/>
                <a:cs typeface="Consolas" pitchFamily="34" charset="-120"/>
              </a:rPr>
              <a:t>changelog: more-control-over-your-github-hosted-runners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7571232" y="0"/>
            <a:ext cx="4620463" cy="6858000"/>
          </a:xfrm>
          <a:prstGeom prst="rect">
            <a:avLst/>
          </a:prstGeom>
          <a:solidFill>
            <a:srgbClr val="161B22"/>
          </a:solidFill>
          <a:ln/>
        </p:spPr>
      </p:sp>
      <p:sp>
        <p:nvSpPr>
          <p:cNvPr id="3" name="Shape 1"/>
          <p:cNvSpPr/>
          <p:nvPr/>
        </p:nvSpPr>
        <p:spPr>
          <a:xfrm>
            <a:off x="7571232" y="0"/>
            <a:ext cx="45720" cy="6858000"/>
          </a:xfrm>
          <a:prstGeom prst="rect">
            <a:avLst/>
          </a:prstGeom>
          <a:solidFill>
            <a:srgbClr val="2F81F7"/>
          </a:solidFill>
          <a:ln/>
        </p:spPr>
      </p:sp>
      <p:sp>
        <p:nvSpPr>
          <p:cNvPr id="4" name="Shape 2"/>
          <p:cNvSpPr/>
          <p:nvPr/>
        </p:nvSpPr>
        <p:spPr>
          <a:xfrm>
            <a:off x="640080" y="475488"/>
            <a:ext cx="50292" cy="219456"/>
          </a:xfrm>
          <a:prstGeom prst="rect">
            <a:avLst/>
          </a:prstGeom>
          <a:solidFill>
            <a:srgbClr val="3FB950"/>
          </a:solidFill>
          <a:ln/>
        </p:spPr>
      </p:sp>
      <p:sp>
        <p:nvSpPr>
          <p:cNvPr id="5" name="Text 3"/>
          <p:cNvSpPr/>
          <p:nvPr/>
        </p:nvSpPr>
        <p:spPr>
          <a:xfrm>
            <a:off x="786384" y="438912"/>
            <a:ext cx="7772400" cy="292608"/>
          </a:xfrm>
          <a:prstGeom prst="rect">
            <a:avLst/>
          </a:prstGeom>
          <a:noFill/>
          <a:ln/>
        </p:spPr>
        <p:txBody>
          <a:bodyPr wrap="square" lIns="0" tIns="0" rIns="0" bIns="0" rtlCol="0" anchor="ctr"/>
          <a:lstStyle/>
          <a:p>
            <a:pPr indent="0" marL="0">
              <a:buNone/>
            </a:pPr>
            <a:r>
              <a:rPr lang="en-US" sz="1050" b="1" spc="140" kern="0" dirty="0">
                <a:solidFill>
                  <a:srgbClr val="3FB950"/>
                </a:solidFill>
                <a:latin typeface="Consolas" pitchFamily="34" charset="0"/>
                <a:ea typeface="Consolas" pitchFamily="34" charset="-122"/>
                <a:cs typeface="Consolas" pitchFamily="34" charset="-120"/>
              </a:rPr>
              <a:t>BEFORE YOU LEAVE</a:t>
            </a:r>
            <a:endParaRPr lang="en-US" sz="1050" dirty="0"/>
          </a:p>
        </p:txBody>
      </p:sp>
      <p:sp>
        <p:nvSpPr>
          <p:cNvPr id="6" name="Text 4"/>
          <p:cNvSpPr/>
          <p:nvPr/>
        </p:nvSpPr>
        <p:spPr>
          <a:xfrm>
            <a:off x="640080" y="786384"/>
            <a:ext cx="6675120" cy="713232"/>
          </a:xfrm>
          <a:prstGeom prst="rect">
            <a:avLst/>
          </a:prstGeom>
          <a:noFill/>
          <a:ln/>
        </p:spPr>
        <p:txBody>
          <a:bodyPr wrap="square" lIns="0" tIns="0" rIns="0" bIns="0" rtlCol="0" anchor="ctr"/>
          <a:lstStyle/>
          <a:p>
            <a:pPr indent="0" marL="0">
              <a:buNone/>
            </a:pPr>
            <a:r>
              <a:rPr lang="en-US" sz="3300" b="1" dirty="0">
                <a:solidFill>
                  <a:srgbClr val="E6EDF3"/>
                </a:solidFill>
                <a:latin typeface="Trebuchet MS" pitchFamily="34" charset="0"/>
                <a:ea typeface="Trebuchet MS" pitchFamily="34" charset="-122"/>
                <a:cs typeface="Trebuchet MS" pitchFamily="34" charset="-120"/>
              </a:rPr>
              <a:t>Six things to take back</a:t>
            </a:r>
            <a:endParaRPr lang="en-US" sz="3300" dirty="0"/>
          </a:p>
        </p:txBody>
      </p:sp>
      <p:sp>
        <p:nvSpPr>
          <p:cNvPr id="7" name="Shape 5"/>
          <p:cNvSpPr/>
          <p:nvPr/>
        </p:nvSpPr>
        <p:spPr>
          <a:xfrm>
            <a:off x="640080" y="1755648"/>
            <a:ext cx="274320" cy="274320"/>
          </a:xfrm>
          <a:prstGeom prst="roundRect">
            <a:avLst>
              <a:gd name="adj" fmla="val 20000"/>
            </a:avLst>
          </a:prstGeom>
          <a:solidFill>
            <a:srgbClr val="1C2430"/>
          </a:solidFill>
          <a:ln w="15875">
            <a:solidFill>
              <a:srgbClr val="F0883E"/>
            </a:solidFill>
            <a:prstDash val="solid"/>
          </a:ln>
        </p:spPr>
      </p:sp>
      <p:sp>
        <p:nvSpPr>
          <p:cNvPr id="8" name="Text 6"/>
          <p:cNvSpPr/>
          <p:nvPr/>
        </p:nvSpPr>
        <p:spPr>
          <a:xfrm>
            <a:off x="1078992" y="1737360"/>
            <a:ext cx="4846320" cy="566928"/>
          </a:xfrm>
          <a:prstGeom prst="rect">
            <a:avLst/>
          </a:prstGeom>
          <a:noFill/>
          <a:ln/>
        </p:spPr>
        <p:txBody>
          <a:bodyPr wrap="square" lIns="0" tIns="0" rIns="0" bIns="0" rtlCol="0" anchor="t"/>
          <a:lstStyle/>
          <a:p>
            <a:pPr indent="0" marL="0">
              <a:lnSpc>
                <a:spcPts val="1800"/>
              </a:lnSpc>
              <a:buNone/>
            </a:pPr>
            <a:r>
              <a:rPr lang="en-US" sz="1300" dirty="0">
                <a:solidFill>
                  <a:srgbClr val="E6EDF3"/>
                </a:solidFill>
                <a:latin typeface="Calibri" pitchFamily="34" charset="0"/>
                <a:ea typeface="Calibri" pitchFamily="34" charset="-122"/>
                <a:cs typeface="Calibri" pitchFamily="34" charset="-120"/>
              </a:rPr>
              <a:t>Check your Actions retention setting and export anything you need past 90 days.</a:t>
            </a:r>
            <a:endParaRPr lang="en-US" sz="1300" dirty="0"/>
          </a:p>
        </p:txBody>
      </p:sp>
      <p:sp>
        <p:nvSpPr>
          <p:cNvPr id="9" name="Text 7"/>
          <p:cNvSpPr/>
          <p:nvPr/>
        </p:nvSpPr>
        <p:spPr>
          <a:xfrm>
            <a:off x="6035040" y="1737360"/>
            <a:ext cx="1170432" cy="310896"/>
          </a:xfrm>
          <a:prstGeom prst="rect">
            <a:avLst/>
          </a:prstGeom>
          <a:noFill/>
          <a:ln/>
        </p:spPr>
        <p:txBody>
          <a:bodyPr wrap="square" lIns="0" tIns="0" rIns="0" bIns="0" rtlCol="0" anchor="ctr"/>
          <a:lstStyle/>
          <a:p>
            <a:pPr algn="r" indent="0" marL="0">
              <a:buNone/>
            </a:pPr>
            <a:r>
              <a:rPr lang="en-US" sz="950" b="1" dirty="0">
                <a:solidFill>
                  <a:srgbClr val="F0883E"/>
                </a:solidFill>
                <a:latin typeface="Consolas" pitchFamily="34" charset="0"/>
                <a:ea typeface="Consolas" pitchFamily="34" charset="-122"/>
                <a:cs typeface="Consolas" pitchFamily="34" charset="-120"/>
              </a:rPr>
              <a:t>before Oct 1</a:t>
            </a:r>
            <a:endParaRPr lang="en-US" sz="950" dirty="0"/>
          </a:p>
        </p:txBody>
      </p:sp>
      <p:sp>
        <p:nvSpPr>
          <p:cNvPr id="10" name="Shape 8"/>
          <p:cNvSpPr/>
          <p:nvPr/>
        </p:nvSpPr>
        <p:spPr>
          <a:xfrm>
            <a:off x="640080" y="2468880"/>
            <a:ext cx="274320" cy="274320"/>
          </a:xfrm>
          <a:prstGeom prst="roundRect">
            <a:avLst>
              <a:gd name="adj" fmla="val 20000"/>
            </a:avLst>
          </a:prstGeom>
          <a:solidFill>
            <a:srgbClr val="1C2430"/>
          </a:solidFill>
          <a:ln w="15875">
            <a:solidFill>
              <a:srgbClr val="F0883E"/>
            </a:solidFill>
            <a:prstDash val="solid"/>
          </a:ln>
        </p:spPr>
      </p:sp>
      <p:sp>
        <p:nvSpPr>
          <p:cNvPr id="11" name="Text 9"/>
          <p:cNvSpPr/>
          <p:nvPr/>
        </p:nvSpPr>
        <p:spPr>
          <a:xfrm>
            <a:off x="1078992" y="2450592"/>
            <a:ext cx="4846320" cy="566928"/>
          </a:xfrm>
          <a:prstGeom prst="rect">
            <a:avLst/>
          </a:prstGeom>
          <a:noFill/>
          <a:ln/>
        </p:spPr>
        <p:txBody>
          <a:bodyPr wrap="square" lIns="0" tIns="0" rIns="0" bIns="0" rtlCol="0" anchor="t"/>
          <a:lstStyle/>
          <a:p>
            <a:pPr indent="0" marL="0">
              <a:lnSpc>
                <a:spcPts val="1800"/>
              </a:lnSpc>
              <a:buNone/>
            </a:pPr>
            <a:r>
              <a:rPr lang="en-US" sz="1300" dirty="0">
                <a:solidFill>
                  <a:srgbClr val="E6EDF3"/>
                </a:solidFill>
                <a:latin typeface="Calibri" pitchFamily="34" charset="0"/>
                <a:ea typeface="Calibri" pitchFamily="34" charset="-122"/>
                <a:cs typeface="Calibri" pitchFamily="34" charset="-120"/>
              </a:rPr>
              <a:t>Pin windows-11-vs2026-arm on arm64 jobs and run them this week.</a:t>
            </a:r>
            <a:endParaRPr lang="en-US" sz="1300" dirty="0"/>
          </a:p>
        </p:txBody>
      </p:sp>
      <p:sp>
        <p:nvSpPr>
          <p:cNvPr id="12" name="Text 10"/>
          <p:cNvSpPr/>
          <p:nvPr/>
        </p:nvSpPr>
        <p:spPr>
          <a:xfrm>
            <a:off x="6035040" y="2450592"/>
            <a:ext cx="1170432" cy="310896"/>
          </a:xfrm>
          <a:prstGeom prst="rect">
            <a:avLst/>
          </a:prstGeom>
          <a:noFill/>
          <a:ln/>
        </p:spPr>
        <p:txBody>
          <a:bodyPr wrap="square" lIns="0" tIns="0" rIns="0" bIns="0" rtlCol="0" anchor="ctr"/>
          <a:lstStyle/>
          <a:p>
            <a:pPr algn="r" indent="0" marL="0">
              <a:buNone/>
            </a:pPr>
            <a:r>
              <a:rPr lang="en-US" sz="950" b="1" dirty="0">
                <a:solidFill>
                  <a:srgbClr val="F0883E"/>
                </a:solidFill>
                <a:latin typeface="Consolas" pitchFamily="34" charset="0"/>
                <a:ea typeface="Consolas" pitchFamily="34" charset="-122"/>
                <a:cs typeface="Consolas" pitchFamily="34" charset="-120"/>
              </a:rPr>
              <a:t>before Sep 21</a:t>
            </a:r>
            <a:endParaRPr lang="en-US" sz="950" dirty="0"/>
          </a:p>
        </p:txBody>
      </p:sp>
      <p:sp>
        <p:nvSpPr>
          <p:cNvPr id="13" name="Shape 11"/>
          <p:cNvSpPr/>
          <p:nvPr/>
        </p:nvSpPr>
        <p:spPr>
          <a:xfrm>
            <a:off x="640080" y="3182112"/>
            <a:ext cx="274320" cy="274320"/>
          </a:xfrm>
          <a:prstGeom prst="roundRect">
            <a:avLst>
              <a:gd name="adj" fmla="val 20000"/>
            </a:avLst>
          </a:prstGeom>
          <a:solidFill>
            <a:srgbClr val="1C2430"/>
          </a:solidFill>
          <a:ln w="15875">
            <a:solidFill>
              <a:srgbClr val="A371F7"/>
            </a:solidFill>
            <a:prstDash val="solid"/>
          </a:ln>
        </p:spPr>
      </p:sp>
      <p:sp>
        <p:nvSpPr>
          <p:cNvPr id="14" name="Text 12"/>
          <p:cNvSpPr/>
          <p:nvPr/>
        </p:nvSpPr>
        <p:spPr>
          <a:xfrm>
            <a:off x="1078992" y="3163824"/>
            <a:ext cx="4846320" cy="566928"/>
          </a:xfrm>
          <a:prstGeom prst="rect">
            <a:avLst/>
          </a:prstGeom>
          <a:noFill/>
          <a:ln/>
        </p:spPr>
        <p:txBody>
          <a:bodyPr wrap="square" lIns="0" tIns="0" rIns="0" bIns="0" rtlCol="0" anchor="t"/>
          <a:lstStyle/>
          <a:p>
            <a:pPr indent="0" marL="0">
              <a:lnSpc>
                <a:spcPts val="1800"/>
              </a:lnSpc>
              <a:buNone/>
            </a:pPr>
            <a:r>
              <a:rPr lang="en-US" sz="1300" dirty="0">
                <a:solidFill>
                  <a:srgbClr val="E6EDF3"/>
                </a:solidFill>
                <a:latin typeface="Calibri" pitchFamily="34" charset="0"/>
                <a:ea typeface="Calibri" pitchFamily="34" charset="-122"/>
                <a:cs typeface="Calibri" pitchFamily="34" charset="-120"/>
              </a:rPr>
              <a:t>Repoint billing reports and dashboards off github-advanced-security.</a:t>
            </a:r>
            <a:endParaRPr lang="en-US" sz="1300" dirty="0"/>
          </a:p>
        </p:txBody>
      </p:sp>
      <p:sp>
        <p:nvSpPr>
          <p:cNvPr id="15" name="Text 13"/>
          <p:cNvSpPr/>
          <p:nvPr/>
        </p:nvSpPr>
        <p:spPr>
          <a:xfrm>
            <a:off x="6035040" y="3163824"/>
            <a:ext cx="1170432" cy="310896"/>
          </a:xfrm>
          <a:prstGeom prst="rect">
            <a:avLst/>
          </a:prstGeom>
          <a:noFill/>
          <a:ln/>
        </p:spPr>
        <p:txBody>
          <a:bodyPr wrap="square" lIns="0" tIns="0" rIns="0" bIns="0" rtlCol="0" anchor="ctr"/>
          <a:lstStyle/>
          <a:p>
            <a:pPr algn="r" indent="0" marL="0">
              <a:buNone/>
            </a:pPr>
            <a:r>
              <a:rPr lang="en-US" sz="950" b="1" dirty="0">
                <a:solidFill>
                  <a:srgbClr val="8B949E"/>
                </a:solidFill>
                <a:latin typeface="Consolas" pitchFamily="34" charset="0"/>
                <a:ea typeface="Consolas" pitchFamily="34" charset="-122"/>
                <a:cs typeface="Consolas" pitchFamily="34" charset="-120"/>
              </a:rPr>
              <a:t>this quarter</a:t>
            </a:r>
            <a:endParaRPr lang="en-US" sz="950" dirty="0"/>
          </a:p>
        </p:txBody>
      </p:sp>
      <p:sp>
        <p:nvSpPr>
          <p:cNvPr id="16" name="Shape 14"/>
          <p:cNvSpPr/>
          <p:nvPr/>
        </p:nvSpPr>
        <p:spPr>
          <a:xfrm>
            <a:off x="640080" y="3895344"/>
            <a:ext cx="274320" cy="274320"/>
          </a:xfrm>
          <a:prstGeom prst="roundRect">
            <a:avLst>
              <a:gd name="adj" fmla="val 20000"/>
            </a:avLst>
          </a:prstGeom>
          <a:solidFill>
            <a:srgbClr val="1C2430"/>
          </a:solidFill>
          <a:ln w="15875">
            <a:solidFill>
              <a:srgbClr val="A371F7"/>
            </a:solidFill>
            <a:prstDash val="solid"/>
          </a:ln>
        </p:spPr>
      </p:sp>
      <p:sp>
        <p:nvSpPr>
          <p:cNvPr id="17" name="Text 15"/>
          <p:cNvSpPr/>
          <p:nvPr/>
        </p:nvSpPr>
        <p:spPr>
          <a:xfrm>
            <a:off x="1078992" y="3877056"/>
            <a:ext cx="4846320" cy="566928"/>
          </a:xfrm>
          <a:prstGeom prst="rect">
            <a:avLst/>
          </a:prstGeom>
          <a:noFill/>
          <a:ln/>
        </p:spPr>
        <p:txBody>
          <a:bodyPr wrap="square" lIns="0" tIns="0" rIns="0" bIns="0" rtlCol="0" anchor="t"/>
          <a:lstStyle/>
          <a:p>
            <a:pPr indent="0" marL="0">
              <a:lnSpc>
                <a:spcPts val="1800"/>
              </a:lnSpc>
              <a:buNone/>
            </a:pPr>
            <a:r>
              <a:rPr lang="en-US" sz="1300" dirty="0">
                <a:solidFill>
                  <a:srgbClr val="E6EDF3"/>
                </a:solidFill>
                <a:latin typeface="Calibri" pitchFamily="34" charset="0"/>
                <a:ea typeface="Calibri" pitchFamily="34" charset="-122"/>
                <a:cs typeface="Calibri" pitchFamily="34" charset="-120"/>
              </a:rPr>
              <a:t>Re-check custom CodeQL queries that import SelfHostedQuery.</a:t>
            </a:r>
            <a:endParaRPr lang="en-US" sz="1300" dirty="0"/>
          </a:p>
        </p:txBody>
      </p:sp>
      <p:sp>
        <p:nvSpPr>
          <p:cNvPr id="18" name="Text 16"/>
          <p:cNvSpPr/>
          <p:nvPr/>
        </p:nvSpPr>
        <p:spPr>
          <a:xfrm>
            <a:off x="6035040" y="3877056"/>
            <a:ext cx="1170432" cy="310896"/>
          </a:xfrm>
          <a:prstGeom prst="rect">
            <a:avLst/>
          </a:prstGeom>
          <a:noFill/>
          <a:ln/>
        </p:spPr>
        <p:txBody>
          <a:bodyPr wrap="square" lIns="0" tIns="0" rIns="0" bIns="0" rtlCol="0" anchor="ctr"/>
          <a:lstStyle/>
          <a:p>
            <a:pPr algn="r" indent="0" marL="0">
              <a:buNone/>
            </a:pPr>
            <a:r>
              <a:rPr lang="en-US" sz="950" b="1" dirty="0">
                <a:solidFill>
                  <a:srgbClr val="8B949E"/>
                </a:solidFill>
                <a:latin typeface="Consolas" pitchFamily="34" charset="0"/>
                <a:ea typeface="Consolas" pitchFamily="34" charset="-122"/>
                <a:cs typeface="Consolas" pitchFamily="34" charset="-120"/>
              </a:rPr>
              <a:t>this quarter</a:t>
            </a:r>
            <a:endParaRPr lang="en-US" sz="950" dirty="0"/>
          </a:p>
        </p:txBody>
      </p:sp>
      <p:sp>
        <p:nvSpPr>
          <p:cNvPr id="19" name="Shape 17"/>
          <p:cNvSpPr/>
          <p:nvPr/>
        </p:nvSpPr>
        <p:spPr>
          <a:xfrm>
            <a:off x="640080" y="4608576"/>
            <a:ext cx="274320" cy="274320"/>
          </a:xfrm>
          <a:prstGeom prst="roundRect">
            <a:avLst>
              <a:gd name="adj" fmla="val 20000"/>
            </a:avLst>
          </a:prstGeom>
          <a:solidFill>
            <a:srgbClr val="1C2430"/>
          </a:solidFill>
          <a:ln w="15875">
            <a:solidFill>
              <a:srgbClr val="3FB950"/>
            </a:solidFill>
            <a:prstDash val="solid"/>
          </a:ln>
        </p:spPr>
      </p:sp>
      <p:sp>
        <p:nvSpPr>
          <p:cNvPr id="20" name="Text 18"/>
          <p:cNvSpPr/>
          <p:nvPr/>
        </p:nvSpPr>
        <p:spPr>
          <a:xfrm>
            <a:off x="1078992" y="4590288"/>
            <a:ext cx="4846320" cy="566928"/>
          </a:xfrm>
          <a:prstGeom prst="rect">
            <a:avLst/>
          </a:prstGeom>
          <a:noFill/>
          <a:ln/>
        </p:spPr>
        <p:txBody>
          <a:bodyPr wrap="square" lIns="0" tIns="0" rIns="0" bIns="0" rtlCol="0" anchor="t"/>
          <a:lstStyle/>
          <a:p>
            <a:pPr indent="0" marL="0">
              <a:lnSpc>
                <a:spcPts val="1800"/>
              </a:lnSpc>
              <a:buNone/>
            </a:pPr>
            <a:r>
              <a:rPr lang="en-US" sz="1300" dirty="0">
                <a:solidFill>
                  <a:srgbClr val="E6EDF3"/>
                </a:solidFill>
                <a:latin typeface="Calibri" pitchFamily="34" charset="0"/>
                <a:ea typeface="Calibri" pitchFamily="34" charset="-122"/>
                <a:cs typeface="Calibri" pitchFamily="34" charset="-120"/>
              </a:rPr>
              <a:t>Try coverage auto-enablement on one repo and review the generated PR.</a:t>
            </a:r>
            <a:endParaRPr lang="en-US" sz="1300" dirty="0"/>
          </a:p>
        </p:txBody>
      </p:sp>
      <p:sp>
        <p:nvSpPr>
          <p:cNvPr id="21" name="Text 19"/>
          <p:cNvSpPr/>
          <p:nvPr/>
        </p:nvSpPr>
        <p:spPr>
          <a:xfrm>
            <a:off x="6035040" y="4590288"/>
            <a:ext cx="1170432" cy="310896"/>
          </a:xfrm>
          <a:prstGeom prst="rect">
            <a:avLst/>
          </a:prstGeom>
          <a:noFill/>
          <a:ln/>
        </p:spPr>
        <p:txBody>
          <a:bodyPr wrap="square" lIns="0" tIns="0" rIns="0" bIns="0" rtlCol="0" anchor="ctr"/>
          <a:lstStyle/>
          <a:p>
            <a:pPr algn="r" indent="0" marL="0">
              <a:buNone/>
            </a:pPr>
            <a:r>
              <a:rPr lang="en-US" sz="950" b="1" dirty="0">
                <a:solidFill>
                  <a:srgbClr val="8B949E"/>
                </a:solidFill>
                <a:latin typeface="Consolas" pitchFamily="34" charset="0"/>
                <a:ea typeface="Consolas" pitchFamily="34" charset="-122"/>
                <a:cs typeface="Consolas" pitchFamily="34" charset="-120"/>
              </a:rPr>
              <a:t>when you can</a:t>
            </a:r>
            <a:endParaRPr lang="en-US" sz="950" dirty="0"/>
          </a:p>
        </p:txBody>
      </p:sp>
      <p:sp>
        <p:nvSpPr>
          <p:cNvPr id="22" name="Shape 20"/>
          <p:cNvSpPr/>
          <p:nvPr/>
        </p:nvSpPr>
        <p:spPr>
          <a:xfrm>
            <a:off x="640080" y="5321808"/>
            <a:ext cx="274320" cy="274320"/>
          </a:xfrm>
          <a:prstGeom prst="roundRect">
            <a:avLst>
              <a:gd name="adj" fmla="val 20000"/>
            </a:avLst>
          </a:prstGeom>
          <a:solidFill>
            <a:srgbClr val="1C2430"/>
          </a:solidFill>
          <a:ln w="15875">
            <a:solidFill>
              <a:srgbClr val="2F81F7"/>
            </a:solidFill>
            <a:prstDash val="solid"/>
          </a:ln>
        </p:spPr>
      </p:sp>
      <p:sp>
        <p:nvSpPr>
          <p:cNvPr id="23" name="Text 21"/>
          <p:cNvSpPr/>
          <p:nvPr/>
        </p:nvSpPr>
        <p:spPr>
          <a:xfrm>
            <a:off x="1078992" y="5303520"/>
            <a:ext cx="4846320" cy="566928"/>
          </a:xfrm>
          <a:prstGeom prst="rect">
            <a:avLst/>
          </a:prstGeom>
          <a:noFill/>
          <a:ln/>
        </p:spPr>
        <p:txBody>
          <a:bodyPr wrap="square" lIns="0" tIns="0" rIns="0" bIns="0" rtlCol="0" anchor="t"/>
          <a:lstStyle/>
          <a:p>
            <a:pPr indent="0" marL="0">
              <a:lnSpc>
                <a:spcPts val="1800"/>
              </a:lnSpc>
              <a:buNone/>
            </a:pPr>
            <a:r>
              <a:rPr lang="en-US" sz="1300" dirty="0">
                <a:solidFill>
                  <a:srgbClr val="E6EDF3"/>
                </a:solidFill>
                <a:latin typeface="Calibri" pitchFamily="34" charset="0"/>
                <a:ea typeface="Calibri" pitchFamily="34" charset="-122"/>
                <a:cs typeface="Calibri" pitchFamily="34" charset="-120"/>
              </a:rPr>
              <a:t>Decide whether to disable ubuntu-latest and route through runner groups.</a:t>
            </a:r>
            <a:endParaRPr lang="en-US" sz="1300" dirty="0"/>
          </a:p>
        </p:txBody>
      </p:sp>
      <p:sp>
        <p:nvSpPr>
          <p:cNvPr id="24" name="Text 22"/>
          <p:cNvSpPr/>
          <p:nvPr/>
        </p:nvSpPr>
        <p:spPr>
          <a:xfrm>
            <a:off x="6035040" y="5303520"/>
            <a:ext cx="1170432" cy="310896"/>
          </a:xfrm>
          <a:prstGeom prst="rect">
            <a:avLst/>
          </a:prstGeom>
          <a:noFill/>
          <a:ln/>
        </p:spPr>
        <p:txBody>
          <a:bodyPr wrap="square" lIns="0" tIns="0" rIns="0" bIns="0" rtlCol="0" anchor="ctr"/>
          <a:lstStyle/>
          <a:p>
            <a:pPr algn="r" indent="0" marL="0">
              <a:buNone/>
            </a:pPr>
            <a:r>
              <a:rPr lang="en-US" sz="950" b="1" dirty="0">
                <a:solidFill>
                  <a:srgbClr val="8B949E"/>
                </a:solidFill>
                <a:latin typeface="Consolas" pitchFamily="34" charset="0"/>
                <a:ea typeface="Consolas" pitchFamily="34" charset="-122"/>
                <a:cs typeface="Consolas" pitchFamily="34" charset="-120"/>
              </a:rPr>
              <a:t>when you can</a:t>
            </a:r>
            <a:endParaRPr lang="en-US" sz="950" dirty="0"/>
          </a:p>
        </p:txBody>
      </p:sp>
      <p:sp>
        <p:nvSpPr>
          <p:cNvPr id="25" name="Text 23"/>
          <p:cNvSpPr/>
          <p:nvPr/>
        </p:nvSpPr>
        <p:spPr>
          <a:xfrm>
            <a:off x="8046720" y="1874520"/>
            <a:ext cx="3566160" cy="822960"/>
          </a:xfrm>
          <a:prstGeom prst="rect">
            <a:avLst/>
          </a:prstGeom>
          <a:noFill/>
          <a:ln/>
        </p:spPr>
        <p:txBody>
          <a:bodyPr wrap="square" lIns="0" tIns="0" rIns="0" bIns="0" rtlCol="0" anchor="ctr"/>
          <a:lstStyle/>
          <a:p>
            <a:pPr indent="0" marL="0">
              <a:buNone/>
            </a:pPr>
            <a:r>
              <a:rPr lang="en-US" sz="3800" b="1" dirty="0">
                <a:solidFill>
                  <a:srgbClr val="E6EDF3"/>
                </a:solidFill>
                <a:latin typeface="Trebuchet MS" pitchFamily="34" charset="0"/>
                <a:ea typeface="Trebuchet MS" pitchFamily="34" charset="-122"/>
                <a:cs typeface="Trebuchet MS" pitchFamily="34" charset="-120"/>
              </a:rPr>
              <a:t>Questions?</a:t>
            </a:r>
            <a:endParaRPr lang="en-US" sz="3800" dirty="0"/>
          </a:p>
        </p:txBody>
      </p:sp>
      <p:sp>
        <p:nvSpPr>
          <p:cNvPr id="26" name="Text 24"/>
          <p:cNvSpPr/>
          <p:nvPr/>
        </p:nvSpPr>
        <p:spPr>
          <a:xfrm>
            <a:off x="8046720" y="2743200"/>
            <a:ext cx="3474720" cy="731520"/>
          </a:xfrm>
          <a:prstGeom prst="rect">
            <a:avLst/>
          </a:prstGeom>
          <a:noFill/>
          <a:ln/>
        </p:spPr>
        <p:txBody>
          <a:bodyPr wrap="square" lIns="0" tIns="0" rIns="0" bIns="0" rtlCol="0" anchor="ctr"/>
          <a:lstStyle/>
          <a:p>
            <a:pPr indent="0" marL="0">
              <a:lnSpc>
                <a:spcPts val="2000"/>
              </a:lnSpc>
              <a:buNone/>
            </a:pPr>
            <a:r>
              <a:rPr lang="en-US" sz="1400" dirty="0">
                <a:solidFill>
                  <a:srgbClr val="8B949E"/>
                </a:solidFill>
                <a:latin typeface="Calibri" pitchFamily="34" charset="0"/>
                <a:ea typeface="Calibri" pitchFamily="34" charset="-122"/>
                <a:cs typeface="Calibri" pitchFamily="34" charset="-120"/>
              </a:rPr>
              <a:t>Bring a workflow file and we will look at it together.</a:t>
            </a:r>
            <a:endParaRPr lang="en-US" sz="1400" dirty="0"/>
          </a:p>
        </p:txBody>
      </p:sp>
      <p:sp>
        <p:nvSpPr>
          <p:cNvPr id="27" name="Shape 25"/>
          <p:cNvSpPr/>
          <p:nvPr/>
        </p:nvSpPr>
        <p:spPr>
          <a:xfrm>
            <a:off x="8046720" y="3703320"/>
            <a:ext cx="3502152" cy="32004"/>
          </a:xfrm>
          <a:prstGeom prst="rect">
            <a:avLst/>
          </a:prstGeom>
          <a:solidFill>
            <a:srgbClr val="30363D"/>
          </a:solidFill>
          <a:ln/>
        </p:spPr>
      </p:sp>
      <p:sp>
        <p:nvSpPr>
          <p:cNvPr id="28" name="Text 26"/>
          <p:cNvSpPr/>
          <p:nvPr/>
        </p:nvSpPr>
        <p:spPr>
          <a:xfrm>
            <a:off x="8046720" y="3913632"/>
            <a:ext cx="3502152" cy="274320"/>
          </a:xfrm>
          <a:prstGeom prst="rect">
            <a:avLst/>
          </a:prstGeom>
          <a:noFill/>
          <a:ln/>
        </p:spPr>
        <p:txBody>
          <a:bodyPr wrap="square" lIns="0" tIns="0" rIns="0" bIns="0" rtlCol="0" anchor="ctr"/>
          <a:lstStyle/>
          <a:p>
            <a:pPr indent="0" marL="0">
              <a:buNone/>
            </a:pPr>
            <a:r>
              <a:rPr lang="en-US" sz="1000" b="1" spc="140" kern="0" dirty="0">
                <a:solidFill>
                  <a:srgbClr val="2F81F7"/>
                </a:solidFill>
                <a:latin typeface="Consolas" pitchFamily="34" charset="0"/>
                <a:ea typeface="Consolas" pitchFamily="34" charset="-122"/>
                <a:cs typeface="Consolas" pitchFamily="34" charset="-120"/>
              </a:rPr>
              <a:t>KEEP UP</a:t>
            </a:r>
            <a:endParaRPr lang="en-US" sz="1000" dirty="0"/>
          </a:p>
        </p:txBody>
      </p:sp>
      <p:sp>
        <p:nvSpPr>
          <p:cNvPr id="29" name="Text 27"/>
          <p:cNvSpPr/>
          <p:nvPr/>
        </p:nvSpPr>
        <p:spPr>
          <a:xfrm>
            <a:off x="8046720" y="4242816"/>
            <a:ext cx="3502152" cy="1097280"/>
          </a:xfrm>
          <a:prstGeom prst="rect">
            <a:avLst/>
          </a:prstGeom>
          <a:noFill/>
          <a:ln/>
        </p:spPr>
        <p:txBody>
          <a:bodyPr wrap="square" lIns="0" tIns="0" rIns="0" bIns="0" rtlCol="0" anchor="ctr"/>
          <a:lstStyle/>
          <a:p>
            <a:pPr indent="0" marL="0">
              <a:lnSpc>
                <a:spcPts val="2200"/>
              </a:lnSpc>
              <a:buNone/>
            </a:pPr>
            <a:r>
              <a:rPr lang="en-US" sz="1150" dirty="0">
                <a:solidFill>
                  <a:srgbClr val="E6EDF3"/>
                </a:solidFill>
                <a:latin typeface="Consolas" pitchFamily="34" charset="0"/>
                <a:ea typeface="Consolas" pitchFamily="34" charset="-122"/>
                <a:cs typeface="Consolas" pitchFamily="34" charset="-120"/>
              </a:rPr>
              <a:t>github.blog/changelog/label/actions</a:t>
            </a:r>
            <a:endParaRPr lang="en-US" sz="1150" dirty="0"/>
          </a:p>
          <a:p>
            <a:pPr indent="0" marL="0">
              <a:lnSpc>
                <a:spcPts val="2200"/>
              </a:lnSpc>
              <a:buNone/>
            </a:pPr>
            <a:r>
              <a:rPr lang="en-US" sz="1150" dirty="0">
                <a:solidFill>
                  <a:srgbClr val="E6EDF3"/>
                </a:solidFill>
                <a:latin typeface="Consolas" pitchFamily="34" charset="0"/>
                <a:ea typeface="Consolas" pitchFamily="34" charset="-122"/>
                <a:cs typeface="Consolas" pitchFamily="34" charset="-120"/>
              </a:rPr>
              <a:t>github.com/actions/runner-images</a:t>
            </a:r>
            <a:endParaRPr lang="en-US" sz="1150" dirty="0"/>
          </a:p>
          <a:p>
            <a:pPr indent="0" marL="0">
              <a:lnSpc>
                <a:spcPts val="2200"/>
              </a:lnSpc>
              <a:buNone/>
            </a:pPr>
            <a:r>
              <a:rPr lang="en-US" sz="1150" dirty="0">
                <a:solidFill>
                  <a:srgbClr val="E6EDF3"/>
                </a:solidFill>
                <a:latin typeface="Consolas" pitchFamily="34" charset="0"/>
                <a:ea typeface="Consolas" pitchFamily="34" charset="-122"/>
                <a:cs typeface="Consolas" pitchFamily="34" charset="-120"/>
              </a:rPr>
              <a:t>docs.github.com/actions</a:t>
            </a:r>
            <a:endParaRPr lang="en-US" sz="1150" dirty="0"/>
          </a:p>
        </p:txBody>
      </p:sp>
      <p:sp>
        <p:nvSpPr>
          <p:cNvPr id="30" name="Text 28"/>
          <p:cNvSpPr/>
          <p:nvPr/>
        </p:nvSpPr>
        <p:spPr>
          <a:xfrm>
            <a:off x="8046720" y="5943600"/>
            <a:ext cx="3502152" cy="274320"/>
          </a:xfrm>
          <a:prstGeom prst="rect">
            <a:avLst/>
          </a:prstGeom>
          <a:noFill/>
          <a:ln/>
        </p:spPr>
        <p:txBody>
          <a:bodyPr wrap="square" lIns="0" tIns="0" rIns="0" bIns="0" rtlCol="0" anchor="ctr"/>
          <a:lstStyle/>
          <a:p>
            <a:pPr indent="0" marL="0">
              <a:buNone/>
            </a:pPr>
            <a:r>
              <a:rPr lang="en-US" sz="1000" dirty="0">
                <a:solidFill>
                  <a:srgbClr val="8B949E"/>
                </a:solidFill>
                <a:latin typeface="Consolas" pitchFamily="34" charset="0"/>
                <a:ea typeface="Consolas" pitchFamily="34" charset="-122"/>
                <a:cs typeface="Consolas" pitchFamily="34" charset="-120"/>
              </a:rPr>
              <a:t>DXC  ·  September 8,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What's New in GitHub Actions - DXC Office Hour</dc:title>
  <dc:subject>PptxGenJS Presentation</dc:subject>
  <dc:creator>GitHub Actions Office Hour</dc:creator>
  <cp:lastModifiedBy>GitHub Actions Office Hour</cp:lastModifiedBy>
  <cp:revision>1</cp:revision>
  <dcterms:created xsi:type="dcterms:W3CDTF">2026-09-04T21:02:09Z</dcterms:created>
  <dcterms:modified xsi:type="dcterms:W3CDTF">2026-09-04T21:02:09Z</dcterms:modified>
</cp:coreProperties>
</file>